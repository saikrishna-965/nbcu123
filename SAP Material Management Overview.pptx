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08" r:id="rId1"/>
  </p:sldMasterIdLst>
  <p:notesMasterIdLst>
    <p:notesMasterId r:id="rId33"/>
  </p:notesMasterIdLst>
  <p:sldIdLst>
    <p:sldId id="298" r:id="rId2"/>
    <p:sldId id="299" r:id="rId3"/>
    <p:sldId id="257" r:id="rId4"/>
    <p:sldId id="268" r:id="rId5"/>
    <p:sldId id="290" r:id="rId6"/>
    <p:sldId id="291" r:id="rId7"/>
    <p:sldId id="292" r:id="rId8"/>
    <p:sldId id="293" r:id="rId9"/>
    <p:sldId id="286" r:id="rId10"/>
    <p:sldId id="294" r:id="rId11"/>
    <p:sldId id="287" r:id="rId12"/>
    <p:sldId id="289" r:id="rId13"/>
    <p:sldId id="296" r:id="rId14"/>
    <p:sldId id="297" r:id="rId15"/>
    <p:sldId id="269" r:id="rId16"/>
    <p:sldId id="282" r:id="rId17"/>
    <p:sldId id="283" r:id="rId18"/>
    <p:sldId id="284" r:id="rId19"/>
    <p:sldId id="285" r:id="rId20"/>
    <p:sldId id="295" r:id="rId21"/>
    <p:sldId id="273" r:id="rId22"/>
    <p:sldId id="270" r:id="rId23"/>
    <p:sldId id="272" r:id="rId24"/>
    <p:sldId id="274" r:id="rId25"/>
    <p:sldId id="280" r:id="rId26"/>
    <p:sldId id="271" r:id="rId27"/>
    <p:sldId id="278" r:id="rId28"/>
    <p:sldId id="276" r:id="rId29"/>
    <p:sldId id="281" r:id="rId30"/>
    <p:sldId id="300" r:id="rId31"/>
    <p:sldId id="267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71" autoAdjust="0"/>
  </p:normalViewPr>
  <p:slideViewPr>
    <p:cSldViewPr>
      <p:cViewPr varScale="1">
        <p:scale>
          <a:sx n="69" d="100"/>
          <a:sy n="69" d="100"/>
        </p:scale>
        <p:origin x="141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5795D-02C2-4DB7-9223-BFAB971579E8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0D005-09E1-44D4-8570-75BA9E4D6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7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9E3F8-4BC7-43BB-895F-A1AFDB5A0F7F}" type="datetime1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05F2-BEA2-44E3-9C22-D3ECA5E6D92F}" type="datetime1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19C1-CEDC-4CB2-95BD-50DB979C845C}" type="datetime1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34D9C-F919-4D58-8961-F64776EB1A38}" type="datetime1">
              <a:rPr lang="en-US" smtClean="0"/>
              <a:t>2/5/2020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87F7-FF64-436F-9692-EBA060D01543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65E16-54C1-41FA-8516-45F1AB0833C3}" type="datetime1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1F52D-F0A6-441B-BCBA-4EE8D2BAE228}" type="datetime1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8EE01-5697-4785-9784-8982EFD19895}" type="datetime1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A160-ED47-406B-A732-3E47BD215FDA}" type="datetime1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640536DF-35B0-422C-B790-ED8DFAC4F6BD}" type="datetime1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8C665402-0672-41F8-B369-ECFC21D973E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9" r:id="rId1"/>
    <p:sldLayoutId id="2147484610" r:id="rId2"/>
    <p:sldLayoutId id="2147484611" r:id="rId3"/>
    <p:sldLayoutId id="2147484612" r:id="rId4"/>
    <p:sldLayoutId id="2147484613" r:id="rId5"/>
    <p:sldLayoutId id="2147484614" r:id="rId6"/>
    <p:sldLayoutId id="2147484615" r:id="rId7"/>
    <p:sldLayoutId id="2147484616" r:id="rId8"/>
    <p:sldLayoutId id="2147484617" r:id="rId9"/>
    <p:sldLayoutId id="2147484618" r:id="rId10"/>
    <p:sldLayoutId id="214748461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0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0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0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38F09-6BE0-4791-90B5-A23A39773C39}" type="datetime1">
              <a:rPr lang="en-US" smtClean="0"/>
              <a:t>2/5/2020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95600"/>
            <a:ext cx="8229600" cy="1938528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SAP Material Management </a:t>
            </a:r>
            <a:r>
              <a:rPr lang="en-US" sz="4000" b="1" dirty="0">
                <a:solidFill>
                  <a:srgbClr val="0070C0"/>
                </a:solidFill>
                <a:latin typeface="+mn-lt"/>
              </a:rPr>
              <a:t>              </a:t>
            </a:r>
            <a:r>
              <a:rPr lang="en-US" sz="4000" b="1" dirty="0">
                <a:solidFill>
                  <a:srgbClr val="0070C0"/>
                </a:solidFill>
                <a:latin typeface="Algerian" pitchFamily="82" charset="0"/>
              </a:rPr>
              <a:t/>
            </a:r>
            <a:br>
              <a:rPr lang="en-US" sz="4000" b="1" dirty="0">
                <a:solidFill>
                  <a:srgbClr val="0070C0"/>
                </a:solidFill>
                <a:latin typeface="Algerian" pitchFamily="82" charset="0"/>
              </a:rPr>
            </a:b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70C0"/>
                </a:solidFill>
                <a:latin typeface="Algerian" pitchFamily="82" charset="0"/>
              </a:rPr>
              <a:t/>
            </a:r>
            <a:br>
              <a:rPr lang="en-US" sz="4000" b="1" dirty="0">
                <a:solidFill>
                  <a:srgbClr val="0070C0"/>
                </a:solidFill>
                <a:latin typeface="Algerian" pitchFamily="82" charset="0"/>
              </a:rPr>
            </a:br>
            <a:endParaRPr lang="en-US" sz="4000" b="1" dirty="0">
              <a:solidFill>
                <a:srgbClr val="0070C0"/>
              </a:solidFill>
              <a:latin typeface="Algerian" pitchFamily="8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CB6743-B4C0-4189-9B9C-8480E9165F07}"/>
              </a:ext>
            </a:extLst>
          </p:cNvPr>
          <p:cNvSpPr txBox="1">
            <a:spLocks/>
          </p:cNvSpPr>
          <p:nvPr/>
        </p:nvSpPr>
        <p:spPr>
          <a:xfrm>
            <a:off x="1143000" y="2514600"/>
            <a:ext cx="7620000" cy="3763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pPr marL="0" indent="0">
              <a:buFont typeface="Symbol" pitchFamily="18" charset="2"/>
              <a:buNone/>
            </a:pPr>
            <a:r>
              <a:rPr lang="en-US" sz="2000" dirty="0"/>
              <a:t>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3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4" name="click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4724400" cy="544036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Overview Of Material Management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Procure to Pay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Purchase Requisition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Purchase order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Goods Receipt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Invoice Receipt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 structure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Master Data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Material Master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Vendor Master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Source list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Info Record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Important Tables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38F09-6BE0-4791-90B5-A23A39773C39}" type="datetime1">
              <a:rPr lang="en-US" smtClean="0"/>
              <a:t>2/5/2020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48560"/>
            <a:ext cx="8229600" cy="1252728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r>
              <a:rPr lang="en-US" sz="4000" b="1" dirty="0">
                <a:solidFill>
                  <a:srgbClr val="C00000"/>
                </a:solidFill>
                <a:latin typeface="Algerian" pitchFamily="82" charset="0"/>
              </a:rPr>
              <a:t>            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3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4" name="click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362200"/>
            <a:ext cx="7620000" cy="3763964"/>
          </a:xfrm>
        </p:spPr>
        <p:txBody>
          <a:bodyPr>
            <a:noAutofit/>
          </a:bodyPr>
          <a:lstStyle/>
          <a:p>
            <a:r>
              <a:rPr lang="en-US" sz="2000" dirty="0"/>
              <a:t>SAP MM (Material Management) is one of the vital modules in SAP ERP software and </a:t>
            </a:r>
            <a:r>
              <a:rPr lang="en-US" sz="2000" dirty="0" smtClean="0"/>
              <a:t>MM </a:t>
            </a:r>
            <a:r>
              <a:rPr lang="en-US" sz="2000" dirty="0"/>
              <a:t>module supports the procurement and inventory functions occurring in day-to-day business operations. </a:t>
            </a:r>
            <a:endParaRPr lang="en-US" sz="2000" dirty="0" smtClean="0"/>
          </a:p>
          <a:p>
            <a:r>
              <a:rPr lang="en-US" sz="2000" dirty="0" smtClean="0"/>
              <a:t>This </a:t>
            </a:r>
            <a:r>
              <a:rPr lang="en-US" sz="2000" dirty="0"/>
              <a:t>MM module consists of many facets such as purchasing, goods getting, material storage, consumption-based planning, and inventory. </a:t>
            </a:r>
            <a:endParaRPr lang="en-US" sz="2000" dirty="0" smtClean="0"/>
          </a:p>
          <a:p>
            <a:r>
              <a:rPr lang="en-US" sz="2000" dirty="0" smtClean="0"/>
              <a:t>SAP </a:t>
            </a:r>
            <a:r>
              <a:rPr lang="en-US" sz="2000" dirty="0"/>
              <a:t>MM module is completely integrated with other modules in the SAP R/3 System such as Finance (FI), Controlling (CO), Sales and Distribution (SD), Quality Management (QM), Plant Maintenance (PM), Production Planning (PP), and Warehouse </a:t>
            </a:r>
            <a:r>
              <a:rPr lang="en-US" sz="2000" dirty="0" smtClean="0"/>
              <a:t>Management(WM</a:t>
            </a:r>
            <a:r>
              <a:rPr lang="en-US" sz="2000" dirty="0"/>
              <a:t>).</a:t>
            </a:r>
            <a:endParaRPr lang="en-US" sz="2000" dirty="0" smtClean="0">
              <a:solidFill>
                <a:srgbClr val="0070C0"/>
              </a:solidFill>
            </a:endParaRPr>
          </a:p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38F09-6BE0-4791-90B5-A23A39773C39}" type="datetime1">
              <a:rPr lang="en-US" smtClean="0"/>
              <a:t>2/5/2020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b="1" dirty="0" smtClean="0">
                <a:solidFill>
                  <a:srgbClr val="FFFF00"/>
                </a:solidFill>
                <a:latin typeface="+mn-lt"/>
              </a:rPr>
              <a:t>Over view of Material</a:t>
            </a: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4000" b="1" dirty="0" smtClean="0">
                <a:solidFill>
                  <a:srgbClr val="FFFF00"/>
                </a:solidFill>
                <a:latin typeface="+mn-lt"/>
              </a:rPr>
              <a:t>management</a:t>
            </a: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               </a:t>
            </a: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1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4" name="click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905000"/>
            <a:ext cx="65532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4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Procure To Pay Process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8780" y="2674938"/>
            <a:ext cx="4834378" cy="345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Determination of requirements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6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2209800"/>
            <a:ext cx="8077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Purchase </a:t>
            </a:r>
            <a:r>
              <a:rPr lang="en-US" sz="2400" dirty="0" smtClean="0">
                <a:solidFill>
                  <a:schemeClr val="accent2"/>
                </a:solidFill>
              </a:rPr>
              <a:t>requisitions </a:t>
            </a:r>
            <a:r>
              <a:rPr lang="en-US" sz="2400" dirty="0">
                <a:solidFill>
                  <a:schemeClr val="accent2"/>
                </a:solidFill>
              </a:rPr>
              <a:t>are internal documents you use to request your </a:t>
            </a:r>
            <a:r>
              <a:rPr lang="en-US" sz="2400" dirty="0" smtClean="0">
                <a:solidFill>
                  <a:schemeClr val="accent2"/>
                </a:solidFill>
              </a:rPr>
              <a:t>Purchasing  department </a:t>
            </a:r>
            <a:r>
              <a:rPr lang="en-US" sz="2400" dirty="0">
                <a:solidFill>
                  <a:schemeClr val="accent2"/>
                </a:solidFill>
              </a:rPr>
              <a:t>to procure a particular quantity of a material or a service for a </a:t>
            </a:r>
            <a:r>
              <a:rPr lang="en-US" sz="2400" dirty="0" smtClean="0">
                <a:solidFill>
                  <a:schemeClr val="accent2"/>
                </a:solidFill>
              </a:rPr>
              <a:t>particular date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 Purchase requisitions are either created manually by the department responsible </a:t>
            </a:r>
            <a:r>
              <a:rPr lang="en-US" sz="2400" dirty="0" smtClean="0">
                <a:solidFill>
                  <a:schemeClr val="accent2"/>
                </a:solidFill>
              </a:rPr>
              <a:t>for automatically </a:t>
            </a:r>
            <a:r>
              <a:rPr lang="en-US" sz="2400" dirty="0">
                <a:solidFill>
                  <a:schemeClr val="accent2"/>
                </a:solidFill>
              </a:rPr>
              <a:t>by MRP</a:t>
            </a:r>
            <a:r>
              <a:rPr lang="en-US" sz="2400" dirty="0" smtClean="0">
                <a:solidFill>
                  <a:schemeClr val="accent2"/>
                </a:solidFill>
              </a:rPr>
              <a:t>.</a:t>
            </a:r>
            <a:endParaRPr lang="en-US" sz="2400" dirty="0">
              <a:solidFill>
                <a:schemeClr val="accent2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 Purchasing converts the purchase requisition into a request for </a:t>
            </a:r>
            <a:r>
              <a:rPr lang="en-US" sz="2400" dirty="0" smtClean="0">
                <a:solidFill>
                  <a:schemeClr val="accent2"/>
                </a:solidFill>
              </a:rPr>
              <a:t>quotation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39645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Purchase </a:t>
            </a:r>
            <a:r>
              <a:rPr lang="en-US" sz="3200" dirty="0" smtClean="0">
                <a:solidFill>
                  <a:schemeClr val="accent6"/>
                </a:solidFill>
              </a:rPr>
              <a:t>requisitions</a:t>
            </a:r>
            <a:endParaRPr lang="en-US" sz="3200" dirty="0">
              <a:solidFill>
                <a:schemeClr val="accent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3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7</a:t>
            </a:fld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199"/>
            <a:ext cx="7772399" cy="502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0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2057400"/>
            <a:ext cx="7543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After establishing that a material or service is required, the Purchasing department </a:t>
            </a:r>
            <a:r>
              <a:rPr lang="en-US" sz="2400" dirty="0" smtClean="0">
                <a:solidFill>
                  <a:schemeClr val="accent2"/>
                </a:solidFill>
              </a:rPr>
              <a:t>needs to </a:t>
            </a:r>
            <a:r>
              <a:rPr lang="en-US" sz="2400" dirty="0">
                <a:solidFill>
                  <a:schemeClr val="accent2"/>
                </a:solidFill>
              </a:rPr>
              <a:t>convert the purchase requisition into a purchase order. The R/3 System can support </a:t>
            </a:r>
            <a:r>
              <a:rPr lang="en-US" sz="2400" dirty="0" smtClean="0">
                <a:solidFill>
                  <a:schemeClr val="accent2"/>
                </a:solidFill>
              </a:rPr>
              <a:t>the Purchasing </a:t>
            </a:r>
            <a:r>
              <a:rPr lang="en-US" sz="2400" dirty="0">
                <a:solidFill>
                  <a:schemeClr val="accent2"/>
                </a:solidFill>
              </a:rPr>
              <a:t>department using the requests for quotation in the source determination.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 First, you enter a request for quotation for the relevant material or the required service</a:t>
            </a:r>
            <a:r>
              <a:rPr lang="en-US" sz="2400" dirty="0" smtClean="0">
                <a:solidFill>
                  <a:schemeClr val="accent2"/>
                </a:solidFill>
              </a:rPr>
              <a:t>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2"/>
                </a:solidFill>
              </a:rPr>
              <a:t>The </a:t>
            </a:r>
            <a:r>
              <a:rPr lang="en-US" sz="2400" dirty="0">
                <a:solidFill>
                  <a:schemeClr val="accent2"/>
                </a:solidFill>
              </a:rPr>
              <a:t>system determines the address </a:t>
            </a:r>
            <a:r>
              <a:rPr lang="en-US" sz="2400" dirty="0" smtClean="0">
                <a:solidFill>
                  <a:schemeClr val="accent2"/>
                </a:solidFill>
              </a:rPr>
              <a:t>from the </a:t>
            </a:r>
            <a:r>
              <a:rPr lang="en-US" sz="2400" dirty="0">
                <a:solidFill>
                  <a:schemeClr val="accent2"/>
                </a:solidFill>
              </a:rPr>
              <a:t>data in the respective vendor master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40863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accent6"/>
                </a:solidFill>
              </a:rPr>
              <a:t>Request for Quotation</a:t>
            </a:r>
            <a:endParaRPr lang="en-US" sz="3200" dirty="0">
              <a:solidFill>
                <a:schemeClr val="accent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4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9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447800"/>
            <a:ext cx="7386638" cy="445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5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4800" y="2286000"/>
            <a:ext cx="76962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A purchase order is a formal request to a vendor to supply certain goods or services </a:t>
            </a:r>
            <a:r>
              <a:rPr lang="en-US" sz="2400" dirty="0" smtClean="0">
                <a:solidFill>
                  <a:schemeClr val="accent2"/>
                </a:solidFill>
              </a:rPr>
              <a:t>under the </a:t>
            </a:r>
            <a:r>
              <a:rPr lang="en-US" sz="2400" dirty="0">
                <a:solidFill>
                  <a:schemeClr val="accent2"/>
                </a:solidFill>
              </a:rPr>
              <a:t>stated conditions.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 You can create purchase orders without reference, or with reference to a </a:t>
            </a:r>
            <a:r>
              <a:rPr lang="en-US" sz="2400" dirty="0" smtClean="0">
                <a:solidFill>
                  <a:schemeClr val="accent2"/>
                </a:solidFill>
              </a:rPr>
              <a:t>purchase requisition</a:t>
            </a:r>
            <a:r>
              <a:rPr lang="en-US" sz="2400" dirty="0">
                <a:solidFill>
                  <a:schemeClr val="accent2"/>
                </a:solidFill>
              </a:rPr>
              <a:t>, a request for quotation, or another purchase order.</a:t>
            </a:r>
          </a:p>
          <a:p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1219200"/>
            <a:ext cx="32031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Purchase Order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2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11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219200"/>
            <a:ext cx="7005638" cy="473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5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33400" y="1859340"/>
            <a:ext cx="7086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Posting a goods receipt to stock with reference to a purchase order has a number </a:t>
            </a:r>
            <a:r>
              <a:rPr lang="en-US" sz="2400" dirty="0" smtClean="0">
                <a:solidFill>
                  <a:schemeClr val="accent2"/>
                </a:solidFill>
              </a:rPr>
              <a:t>of advantages </a:t>
            </a:r>
            <a:r>
              <a:rPr lang="en-US" sz="2400" dirty="0">
                <a:solidFill>
                  <a:schemeClr val="accent2"/>
                </a:solidFill>
              </a:rPr>
              <a:t>for you, including: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 The goods receiving point can check whether the delivery is the same as the </a:t>
            </a:r>
            <a:r>
              <a:rPr lang="en-US" sz="2400" dirty="0" smtClean="0">
                <a:solidFill>
                  <a:schemeClr val="accent2"/>
                </a:solidFill>
              </a:rPr>
              <a:t>purchase order </a:t>
            </a:r>
            <a:r>
              <a:rPr lang="en-US" sz="2400" dirty="0">
                <a:solidFill>
                  <a:schemeClr val="accent2"/>
                </a:solidFill>
              </a:rPr>
              <a:t>data, that is, whether the goods that were ordered have been delivered.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 The system suggests data from the purchase order when you enter the goods </a:t>
            </a:r>
            <a:r>
              <a:rPr lang="en-US" sz="2400" dirty="0" smtClean="0">
                <a:solidFill>
                  <a:schemeClr val="accent2"/>
                </a:solidFill>
              </a:rPr>
              <a:t>receipt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066800"/>
            <a:ext cx="2467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accent6"/>
                </a:solidFill>
              </a:rPr>
              <a:t>Goods Receipt </a:t>
            </a:r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5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6943725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8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7467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When you enter an invoice with reference to a purchase order, the system suggests </a:t>
            </a:r>
            <a:r>
              <a:rPr lang="en-US" sz="2000" dirty="0" smtClean="0">
                <a:solidFill>
                  <a:schemeClr val="accent1"/>
                </a:solidFill>
              </a:rPr>
              <a:t>data from </a:t>
            </a:r>
            <a:r>
              <a:rPr lang="en-US" sz="2000" dirty="0">
                <a:solidFill>
                  <a:schemeClr val="accent1"/>
                </a:solidFill>
              </a:rPr>
              <a:t>the purchase order and the goods receipts for the purchase order (for example</a:t>
            </a:r>
            <a:r>
              <a:rPr lang="en-US" sz="2000" dirty="0" smtClean="0">
                <a:solidFill>
                  <a:schemeClr val="accent1"/>
                </a:solidFill>
              </a:rPr>
              <a:t>, vendor</a:t>
            </a:r>
            <a:r>
              <a:rPr lang="en-US" sz="2000" dirty="0">
                <a:solidFill>
                  <a:schemeClr val="accent1"/>
                </a:solidFill>
              </a:rPr>
              <a:t>, material, quantity still to be invoiced, terms of payment, and so on).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 If there are discrepancies between the purchase order or goods receipt and the </a:t>
            </a:r>
            <a:r>
              <a:rPr lang="en-US" sz="2000" dirty="0" smtClean="0">
                <a:solidFill>
                  <a:schemeClr val="accent1"/>
                </a:solidFill>
              </a:rPr>
              <a:t>invoice, the </a:t>
            </a:r>
            <a:r>
              <a:rPr lang="en-US" sz="2000" dirty="0">
                <a:solidFill>
                  <a:schemeClr val="accent1"/>
                </a:solidFill>
              </a:rPr>
              <a:t>system warns the user, and </a:t>
            </a:r>
            <a:r>
              <a:rPr lang="en-US" sz="2000" dirty="0" smtClean="0">
                <a:solidFill>
                  <a:schemeClr val="accent1"/>
                </a:solidFill>
              </a:rPr>
              <a:t>depending </a:t>
            </a:r>
            <a:r>
              <a:rPr lang="en-US" sz="2000" dirty="0">
                <a:solidFill>
                  <a:schemeClr val="accent1"/>
                </a:solidFill>
              </a:rPr>
              <a:t>on how the system is configured, blocks </a:t>
            </a:r>
            <a:r>
              <a:rPr lang="en-US" sz="2000" dirty="0" smtClean="0">
                <a:solidFill>
                  <a:schemeClr val="accent1"/>
                </a:solidFill>
              </a:rPr>
              <a:t>the invoice </a:t>
            </a:r>
            <a:r>
              <a:rPr lang="en-US" sz="2000" dirty="0">
                <a:solidFill>
                  <a:schemeClr val="accent1"/>
                </a:solidFill>
              </a:rPr>
              <a:t>for payment.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 The posting of the invoice completes the invoice verification process. The system </a:t>
            </a:r>
            <a:r>
              <a:rPr lang="en-US" sz="2000" dirty="0" smtClean="0">
                <a:solidFill>
                  <a:schemeClr val="accent1"/>
                </a:solidFill>
              </a:rPr>
              <a:t>updates the </a:t>
            </a:r>
            <a:r>
              <a:rPr lang="en-US" sz="2000" dirty="0">
                <a:solidFill>
                  <a:schemeClr val="accent1"/>
                </a:solidFill>
              </a:rPr>
              <a:t>purchase order history and Financial Accounting initiates payment for the </a:t>
            </a:r>
            <a:r>
              <a:rPr lang="en-US" sz="2000" dirty="0" smtClean="0">
                <a:solidFill>
                  <a:schemeClr val="accent1"/>
                </a:solidFill>
              </a:rPr>
              <a:t>open invoice </a:t>
            </a:r>
            <a:r>
              <a:rPr lang="en-US" sz="2000" dirty="0">
                <a:solidFill>
                  <a:schemeClr val="accent1"/>
                </a:solidFill>
              </a:rPr>
              <a:t>items</a:t>
            </a:r>
            <a:r>
              <a:rPr lang="en-US" sz="2000" dirty="0" smtClean="0">
                <a:solidFill>
                  <a:schemeClr val="accent1"/>
                </a:solidFill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1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Invoice Verification creates a link between Materials Management </a:t>
            </a:r>
            <a:r>
              <a:rPr lang="en-US" sz="2000" dirty="0" smtClean="0">
                <a:solidFill>
                  <a:schemeClr val="accent1"/>
                </a:solidFill>
              </a:rPr>
              <a:t>and external </a:t>
            </a:r>
            <a:r>
              <a:rPr lang="en-US" sz="2000" dirty="0">
                <a:solidFill>
                  <a:schemeClr val="accent1"/>
                </a:solidFill>
              </a:rPr>
              <a:t>or internal accounting.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90600"/>
            <a:ext cx="31511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Invoice Verification </a:t>
            </a:r>
            <a:endParaRPr lang="en-US" sz="28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0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23390" y="2674938"/>
            <a:ext cx="3905157" cy="345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Material management </a:t>
            </a:r>
            <a:br>
              <a:rPr lang="en-US" dirty="0" smtClean="0"/>
            </a:br>
            <a:r>
              <a:rPr lang="en-US" dirty="0" smtClean="0"/>
              <a:t>Organization structure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5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16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2" y="2438400"/>
            <a:ext cx="658177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7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17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1474788"/>
            <a:ext cx="6619875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9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18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33600"/>
            <a:ext cx="6391275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7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19</a:t>
            </a:fld>
            <a:endParaRPr 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52600"/>
            <a:ext cx="69342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3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81200"/>
            <a:ext cx="6810375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14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200" dirty="0" smtClean="0">
                <a:solidFill>
                  <a:srgbClr val="0070C0"/>
                </a:solidFill>
              </a:rPr>
              <a:t>Material Master</a:t>
            </a:r>
            <a:endParaRPr lang="en-US" sz="4200" dirty="0">
              <a:solidFill>
                <a:srgbClr val="0070C0"/>
              </a:solidFill>
            </a:endParaRPr>
          </a:p>
          <a:p>
            <a:r>
              <a:rPr lang="en-US" sz="4200" dirty="0" smtClean="0">
                <a:solidFill>
                  <a:srgbClr val="0070C0"/>
                </a:solidFill>
              </a:rPr>
              <a:t>Vendor Master </a:t>
            </a:r>
            <a:endParaRPr lang="en-US" sz="4200" dirty="0">
              <a:solidFill>
                <a:srgbClr val="0070C0"/>
              </a:solidFill>
            </a:endParaRPr>
          </a:p>
          <a:p>
            <a:pPr algn="just"/>
            <a:r>
              <a:rPr lang="en-US" sz="4200" dirty="0" smtClean="0">
                <a:solidFill>
                  <a:srgbClr val="0070C0"/>
                </a:solidFill>
              </a:rPr>
              <a:t>Source list</a:t>
            </a:r>
            <a:endParaRPr lang="en-US" sz="4200" dirty="0">
              <a:solidFill>
                <a:srgbClr val="0070C0"/>
              </a:solidFill>
            </a:endParaRPr>
          </a:p>
          <a:p>
            <a:r>
              <a:rPr lang="en-US" sz="4200" dirty="0" smtClean="0">
                <a:solidFill>
                  <a:srgbClr val="0070C0"/>
                </a:solidFill>
              </a:rPr>
              <a:t>Purchase Info Record</a:t>
            </a:r>
            <a:endParaRPr lang="en-US" sz="4200" dirty="0">
              <a:solidFill>
                <a:srgbClr val="0070C0"/>
              </a:solidFill>
            </a:endParaRPr>
          </a:p>
          <a:p>
            <a:endParaRPr lang="en-US" sz="96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MASTER DATA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2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" y="2133600"/>
            <a:ext cx="7162800" cy="399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MATERIAL MASTER DATA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5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8212" y="2590800"/>
            <a:ext cx="7408333" cy="4068763"/>
          </a:xfrm>
        </p:spPr>
        <p:txBody>
          <a:bodyPr>
            <a:normAutofit/>
          </a:bodyPr>
          <a:lstStyle/>
          <a:p>
            <a:pPr marL="339725" indent="-339725">
              <a:lnSpc>
                <a:spcPct val="100000"/>
              </a:lnSpc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</a:t>
            </a:r>
            <a:r>
              <a:rPr lang="en-GB" dirty="0" smtClean="0"/>
              <a:t>record </a:t>
            </a:r>
            <a:r>
              <a:rPr lang="en-GB" dirty="0"/>
              <a:t>contains description of all articles and parts that an enterprise procures</a:t>
            </a:r>
            <a:r>
              <a:rPr lang="en-GB" dirty="0" smtClean="0"/>
              <a:t>, manufactures </a:t>
            </a:r>
            <a:r>
              <a:rPr lang="en-GB" dirty="0"/>
              <a:t>and stores.</a:t>
            </a:r>
          </a:p>
          <a:p>
            <a:pPr marL="339725" indent="-339725">
              <a:lnSpc>
                <a:spcPct val="100000"/>
              </a:lnSpc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This is the central repository of material specific information. The data MMR can be used by purchasing dept. and other areas like IM,MRP and IV.</a:t>
            </a:r>
          </a:p>
          <a:p>
            <a:pPr marL="339725" indent="-339725">
              <a:lnSpc>
                <a:spcPct val="100000"/>
              </a:lnSpc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data is stored in individual views.</a:t>
            </a:r>
          </a:p>
          <a:p>
            <a:pPr marL="339725" indent="-339725">
              <a:lnSpc>
                <a:spcPct val="100000"/>
              </a:lnSpc>
              <a:buClrTx/>
              <a:buSzTx/>
              <a:buFontTx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04800" y="1905000"/>
            <a:ext cx="30203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>
                <a:solidFill>
                  <a:schemeClr val="accent6"/>
                </a:solidFill>
              </a:rPr>
              <a:t>Material </a:t>
            </a:r>
            <a:r>
              <a:rPr lang="en-GB" sz="3200" dirty="0">
                <a:solidFill>
                  <a:schemeClr val="accent6"/>
                </a:solidFill>
              </a:rPr>
              <a:t>master </a:t>
            </a:r>
            <a:endParaRPr lang="en-US" sz="3200" dirty="0">
              <a:solidFill>
                <a:schemeClr val="accent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8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39725" indent="-339725">
              <a:lnSpc>
                <a:spcPct val="100000"/>
              </a:lnSpc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Vendor master record contains information on an enterprise vendors</a:t>
            </a:r>
            <a:r>
              <a:rPr lang="en-GB" dirty="0" smtClean="0"/>
              <a:t>. The </a:t>
            </a:r>
            <a:r>
              <a:rPr lang="en-GB" dirty="0"/>
              <a:t>vendor is a creditor of an enterprise.</a:t>
            </a:r>
          </a:p>
          <a:p>
            <a:pPr marL="339725" indent="-339725">
              <a:lnSpc>
                <a:spcPct val="100000"/>
              </a:lnSpc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existence of a Vendor master record is a necessary for creation of an external purchasing docs. (RFQ,PO,O/L).</a:t>
            </a:r>
          </a:p>
          <a:p>
            <a:pPr marL="339725" indent="-339725">
              <a:lnSpc>
                <a:spcPct val="100000"/>
              </a:lnSpc>
              <a:buFont typeface="Arial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The </a:t>
            </a:r>
            <a:r>
              <a:rPr lang="en-GB" dirty="0" smtClean="0"/>
              <a:t>VM </a:t>
            </a:r>
            <a:r>
              <a:rPr lang="en-GB" dirty="0"/>
              <a:t>can be maintained either centrally or locally.</a:t>
            </a:r>
          </a:p>
          <a:p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24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u="sng" dirty="0" smtClean="0">
                <a:solidFill>
                  <a:schemeClr val="bg1"/>
                </a:solidFill>
              </a:rPr>
              <a:t>VENDOR </a:t>
            </a:r>
            <a:r>
              <a:rPr lang="en-GB" b="1" u="sng" dirty="0">
                <a:solidFill>
                  <a:schemeClr val="bg1"/>
                </a:solidFill>
              </a:rPr>
              <a:t>MASTER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2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25</a:t>
            </a:fld>
            <a:endParaRPr lang="en-US"/>
          </a:p>
        </p:txBody>
      </p:sp>
      <p:sp>
        <p:nvSpPr>
          <p:cNvPr id="4" name="Date Placeholder 2"/>
          <p:cNvSpPr txBox="1">
            <a:spLocks/>
          </p:cNvSpPr>
          <p:nvPr/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FCD911-97CC-43A8-B78A-150E2A538CFF}" type="datetime1">
              <a:rPr lang="en-US" smtClean="0"/>
              <a:pPr/>
              <a:t>2/5/2020</a:t>
            </a:fld>
            <a:endParaRPr lang="en-US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665402-0672-41F8-B369-ECFC21D973E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457200" y="0"/>
            <a:ext cx="8229600" cy="6858000"/>
          </a:xfrm>
          <a:prstGeom prst="rect">
            <a:avLst/>
          </a:prstGeom>
          <a:ln/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l">
              <a:spcBef>
                <a:spcPts val="8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3200" smtClean="0"/>
          </a:p>
          <a:p>
            <a:pPr marL="342900" indent="-342900" algn="l">
              <a:spcBef>
                <a:spcPts val="8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3200" smtClean="0"/>
          </a:p>
          <a:p>
            <a:pPr marL="342900" indent="-342900" algn="l">
              <a:spcBef>
                <a:spcPts val="8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GB" sz="3200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733800" y="914400"/>
            <a:ext cx="3733800" cy="1447800"/>
          </a:xfrm>
          <a:prstGeom prst="rect">
            <a:avLst/>
          </a:prstGeom>
          <a:solidFill>
            <a:schemeClr val="bg2">
              <a:lumMod val="75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u="sng" dirty="0">
                <a:solidFill>
                  <a:schemeClr val="tx2">
                    <a:lumMod val="50000"/>
                  </a:schemeClr>
                </a:solidFill>
              </a:rPr>
              <a:t>GENERAL</a:t>
            </a:r>
            <a:r>
              <a:rPr lang="en-GB" sz="2000" b="1" u="sng" dirty="0">
                <a:solidFill>
                  <a:srgbClr val="FF3300"/>
                </a:solidFill>
              </a:rPr>
              <a:t> </a:t>
            </a:r>
            <a:r>
              <a:rPr lang="en-GB" sz="2000" b="1" u="sng" dirty="0">
                <a:solidFill>
                  <a:schemeClr val="tx2">
                    <a:lumMod val="50000"/>
                  </a:schemeClr>
                </a:solidFill>
              </a:rPr>
              <a:t>DATA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dirty="0" err="1">
                <a:solidFill>
                  <a:srgbClr val="000000"/>
                </a:solidFill>
              </a:rPr>
              <a:t>Address,Tel.no,Language</a:t>
            </a:r>
            <a:r>
              <a:rPr lang="en-GB" sz="2000" dirty="0">
                <a:solidFill>
                  <a:srgbClr val="000000"/>
                </a:solidFill>
              </a:rPr>
              <a:t> etc.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733800" y="2971800"/>
            <a:ext cx="3733800" cy="1447800"/>
          </a:xfrm>
          <a:prstGeom prst="rect">
            <a:avLst/>
          </a:prstGeom>
          <a:solidFill>
            <a:schemeClr val="bg2">
              <a:lumMod val="75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u="sng" dirty="0">
                <a:solidFill>
                  <a:schemeClr val="tx2">
                    <a:lumMod val="50000"/>
                  </a:schemeClr>
                </a:solidFill>
              </a:rPr>
              <a:t>COMPANY</a:t>
            </a:r>
            <a:r>
              <a:rPr lang="en-GB" sz="2000" b="1" u="sng" dirty="0">
                <a:solidFill>
                  <a:srgbClr val="FF3300"/>
                </a:solidFill>
              </a:rPr>
              <a:t> </a:t>
            </a:r>
            <a:r>
              <a:rPr lang="en-GB" sz="2000" b="1" u="sng" dirty="0">
                <a:solidFill>
                  <a:schemeClr val="tx2">
                    <a:lumMod val="50000"/>
                  </a:schemeClr>
                </a:solidFill>
              </a:rPr>
              <a:t>CODE</a:t>
            </a:r>
            <a:r>
              <a:rPr lang="en-GB" sz="2000" b="1" u="sng" dirty="0">
                <a:solidFill>
                  <a:srgbClr val="FF3300"/>
                </a:solidFill>
              </a:rPr>
              <a:t> </a:t>
            </a:r>
            <a:r>
              <a:rPr lang="en-GB" sz="2000" b="1" u="sng" dirty="0">
                <a:solidFill>
                  <a:schemeClr val="tx2">
                    <a:lumMod val="50000"/>
                  </a:schemeClr>
                </a:solidFill>
              </a:rPr>
              <a:t>DATA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dirty="0">
                <a:solidFill>
                  <a:srgbClr val="000000"/>
                </a:solidFill>
              </a:rPr>
              <a:t>Payment Transactions, A/c info.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dirty="0">
                <a:solidFill>
                  <a:srgbClr val="000000"/>
                </a:solidFill>
              </a:rPr>
              <a:t>Etc.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733800" y="4876800"/>
            <a:ext cx="3733800" cy="1447800"/>
          </a:xfrm>
          <a:prstGeom prst="rect">
            <a:avLst/>
          </a:prstGeom>
          <a:solidFill>
            <a:schemeClr val="bg2">
              <a:lumMod val="75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u="sng" dirty="0">
                <a:solidFill>
                  <a:schemeClr val="tx2">
                    <a:lumMod val="50000"/>
                  </a:schemeClr>
                </a:solidFill>
              </a:rPr>
              <a:t>PURCHASING</a:t>
            </a:r>
            <a:r>
              <a:rPr lang="en-GB" sz="2000" b="1" u="sng" dirty="0">
                <a:solidFill>
                  <a:srgbClr val="FF3300"/>
                </a:solidFill>
              </a:rPr>
              <a:t> </a:t>
            </a:r>
            <a:r>
              <a:rPr lang="en-GB" sz="2000" b="1" u="sng" dirty="0">
                <a:solidFill>
                  <a:schemeClr val="tx2">
                    <a:lumMod val="50000"/>
                  </a:schemeClr>
                </a:solidFill>
              </a:rPr>
              <a:t>DATA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dirty="0" err="1">
                <a:solidFill>
                  <a:srgbClr val="000000"/>
                </a:solidFill>
              </a:rPr>
              <a:t>Currency,Terms</a:t>
            </a:r>
            <a:r>
              <a:rPr lang="en-GB" sz="2000" dirty="0">
                <a:solidFill>
                  <a:srgbClr val="000000"/>
                </a:solidFill>
              </a:rPr>
              <a:t> of Payments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dirty="0">
                <a:solidFill>
                  <a:srgbClr val="000000"/>
                </a:solidFill>
              </a:rPr>
              <a:t>Control indicators,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dirty="0">
                <a:solidFill>
                  <a:srgbClr val="000000"/>
                </a:solidFill>
              </a:rPr>
              <a:t>Partner functions etc.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85800" y="609600"/>
            <a:ext cx="1066800" cy="1676400"/>
          </a:xfrm>
          <a:prstGeom prst="rect">
            <a:avLst/>
          </a:prstGeom>
          <a:solidFill>
            <a:schemeClr val="bg2">
              <a:lumMod val="75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b="1" dirty="0">
                <a:solidFill>
                  <a:srgbClr val="002060"/>
                </a:solidFill>
              </a:rPr>
              <a:t>VM</a:t>
            </a: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1752600" y="1447800"/>
            <a:ext cx="685800" cy="1588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2438400" y="1447800"/>
            <a:ext cx="1588" cy="4191000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2438400" y="1676400"/>
            <a:ext cx="1295400" cy="1588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2438400" y="3886200"/>
            <a:ext cx="1588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 flipH="1">
            <a:off x="2435225" y="3657600"/>
            <a:ext cx="1301750" cy="1588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H="1">
            <a:off x="2435225" y="5638800"/>
            <a:ext cx="1301750" cy="1588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5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9835" y="2674938"/>
            <a:ext cx="4552268" cy="345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26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 Determination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5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1" y="2438400"/>
            <a:ext cx="7518400" cy="36877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7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/>
              <a:t>The purpose of source determination process is to automatically assign a source of supply to a purchase requisition</a:t>
            </a:r>
            <a:r>
              <a:rPr lang="en-GB" dirty="0" smtClean="0"/>
              <a:t>. This </a:t>
            </a:r>
            <a:r>
              <a:rPr lang="en-GB" dirty="0"/>
              <a:t>contains a list of sources for a material in a particular plant and for particular time periods.</a:t>
            </a: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/>
              <a:t>The source list has the following purposes.</a:t>
            </a: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/>
              <a:t>1.Restricting the selection of sources during the source </a:t>
            </a:r>
            <a:r>
              <a:rPr lang="en-GB" dirty="0" smtClean="0"/>
              <a:t>determination </a:t>
            </a:r>
            <a:r>
              <a:rPr lang="en-GB" dirty="0"/>
              <a:t>process.</a:t>
            </a: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/>
              <a:t>2.Defining the source as a fixed source.</a:t>
            </a: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/>
              <a:t>3.Blocking a source </a:t>
            </a: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/>
              <a:t>4.MRP indicator </a:t>
            </a:r>
            <a:r>
              <a:rPr lang="en-GB" dirty="0" err="1"/>
              <a:t>i.e</a:t>
            </a:r>
            <a:r>
              <a:rPr lang="en-GB" dirty="0"/>
              <a:t> to find this source in </a:t>
            </a:r>
            <a:r>
              <a:rPr lang="en-GB" dirty="0" smtClean="0"/>
              <a:t>planning.</a:t>
            </a:r>
            <a:endParaRPr lang="en-GB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27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LIST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4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14600"/>
            <a:ext cx="7408333" cy="3611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/>
              <a:t> </a:t>
            </a:r>
            <a:r>
              <a:rPr lang="en-GB" sz="2200" dirty="0"/>
              <a:t>The PIR provides the option of storing information about a vendor and a material as the master data at purchase organisation and plant level. The following information can be defined in PIR.</a:t>
            </a:r>
          </a:p>
          <a:p>
            <a:pPr>
              <a:lnSpc>
                <a:spcPct val="100000"/>
              </a:lnSpc>
              <a:spcBef>
                <a:spcPts val="6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    C</a:t>
            </a:r>
            <a:r>
              <a:rPr lang="en-GB" sz="2200" dirty="0" smtClean="0"/>
              <a:t>urrent </a:t>
            </a:r>
            <a:r>
              <a:rPr lang="en-GB" sz="2200" dirty="0"/>
              <a:t>and future prices and conditions fright</a:t>
            </a:r>
            <a:r>
              <a:rPr lang="en-GB" sz="2200" dirty="0" smtClean="0"/>
              <a:t>, discount</a:t>
            </a:r>
            <a:endParaRPr lang="en-GB" sz="2200" dirty="0"/>
          </a:p>
          <a:p>
            <a:pPr>
              <a:lnSpc>
                <a:spcPct val="100000"/>
              </a:lnSpc>
              <a:spcBef>
                <a:spcPts val="6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    </a:t>
            </a:r>
            <a:r>
              <a:rPr lang="en-GB" sz="2200" dirty="0" smtClean="0"/>
              <a:t>Delivery </a:t>
            </a:r>
            <a:r>
              <a:rPr lang="en-GB" sz="2200" dirty="0"/>
              <a:t>data </a:t>
            </a:r>
            <a:r>
              <a:rPr lang="en-GB" sz="2200" dirty="0" err="1"/>
              <a:t>i.e</a:t>
            </a:r>
            <a:r>
              <a:rPr lang="en-GB" sz="2200" dirty="0"/>
              <a:t> planned del. Time</a:t>
            </a:r>
            <a:r>
              <a:rPr lang="en-GB" sz="2200" dirty="0" smtClean="0"/>
              <a:t>, over </a:t>
            </a:r>
            <a:r>
              <a:rPr lang="en-GB" sz="2200" dirty="0"/>
              <a:t>and under tolerances</a:t>
            </a:r>
          </a:p>
          <a:p>
            <a:pPr>
              <a:lnSpc>
                <a:spcPct val="100000"/>
              </a:lnSpc>
              <a:spcBef>
                <a:spcPts val="6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    </a:t>
            </a:r>
            <a:r>
              <a:rPr lang="en-GB" sz="2200" dirty="0" smtClean="0"/>
              <a:t>vendor </a:t>
            </a:r>
            <a:r>
              <a:rPr lang="en-GB" sz="2200" dirty="0"/>
              <a:t>data and vendor specific data about material.</a:t>
            </a:r>
          </a:p>
          <a:p>
            <a:pPr>
              <a:lnSpc>
                <a:spcPct val="100000"/>
              </a:lnSpc>
              <a:spcBef>
                <a:spcPts val="600"/>
              </a:spcBef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sz="2200" dirty="0"/>
              <a:t>    N</a:t>
            </a:r>
            <a:r>
              <a:rPr lang="en-GB" sz="2200" dirty="0" smtClean="0"/>
              <a:t>umber </a:t>
            </a:r>
            <a:r>
              <a:rPr lang="en-GB" sz="2200" dirty="0"/>
              <a:t>of last purchase order.</a:t>
            </a:r>
          </a:p>
          <a:p>
            <a:pPr marL="0" indent="0">
              <a:lnSpc>
                <a:spcPct val="100000"/>
              </a:lnSpc>
              <a:buNone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28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u="sng" dirty="0" smtClean="0">
                <a:solidFill>
                  <a:schemeClr val="bg1"/>
                </a:solidFill>
              </a:rPr>
              <a:t>PURCHASE </a:t>
            </a:r>
            <a:r>
              <a:rPr lang="en-GB" b="1" u="sng" dirty="0">
                <a:solidFill>
                  <a:schemeClr val="bg1"/>
                </a:solidFill>
              </a:rPr>
              <a:t>INFO </a:t>
            </a:r>
            <a:r>
              <a:rPr lang="en-GB" b="1" u="sng" dirty="0" smtClean="0">
                <a:solidFill>
                  <a:schemeClr val="bg1"/>
                </a:solidFill>
              </a:rPr>
              <a:t>RECORD(PIR)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7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29</a:t>
            </a:fld>
            <a:endParaRPr lang="en-US"/>
          </a:p>
        </p:txBody>
      </p:sp>
      <p:sp>
        <p:nvSpPr>
          <p:cNvPr id="4" name="Date Placeholder 2"/>
          <p:cNvSpPr txBox="1">
            <a:spLocks/>
          </p:cNvSpPr>
          <p:nvPr/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FCD911-97CC-43A8-B78A-150E2A538CFF}" type="datetime1">
              <a:rPr lang="en-US" smtClean="0"/>
              <a:pPr/>
              <a:t>2/5/2020</a:t>
            </a:fld>
            <a:endParaRPr lang="en-US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665402-0672-41F8-B369-ECFC21D973E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038600" y="1143000"/>
            <a:ext cx="3505200" cy="1371600"/>
          </a:xfrm>
          <a:prstGeom prst="rect">
            <a:avLst/>
          </a:prstGeom>
          <a:solidFill>
            <a:schemeClr val="bg2">
              <a:lumMod val="75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u="sng" dirty="0">
                <a:solidFill>
                  <a:schemeClr val="accent4">
                    <a:lumMod val="50000"/>
                  </a:schemeClr>
                </a:solidFill>
              </a:rPr>
              <a:t>GENERAL</a:t>
            </a:r>
            <a:r>
              <a:rPr lang="en-GB" b="1" u="sng" dirty="0">
                <a:solidFill>
                  <a:srgbClr val="FF3300"/>
                </a:solidFill>
              </a:rPr>
              <a:t> </a:t>
            </a:r>
            <a:r>
              <a:rPr lang="en-GB" b="1" u="sng" dirty="0">
                <a:solidFill>
                  <a:schemeClr val="accent4">
                    <a:lumMod val="50000"/>
                  </a:schemeClr>
                </a:solidFill>
              </a:rPr>
              <a:t>DATA</a:t>
            </a:r>
            <a:r>
              <a:rPr lang="en-GB" b="1" u="sng" dirty="0">
                <a:solidFill>
                  <a:srgbClr val="FF3300"/>
                </a:solidFill>
              </a:rPr>
              <a:t> 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>
                <a:solidFill>
                  <a:srgbClr val="000000"/>
                </a:solidFill>
              </a:rPr>
              <a:t>VENDOR DATA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>
                <a:solidFill>
                  <a:srgbClr val="000000"/>
                </a:solidFill>
              </a:rPr>
              <a:t>ORDER UNIT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>
                <a:solidFill>
                  <a:srgbClr val="000000"/>
                </a:solidFill>
              </a:rPr>
              <a:t>ADMINISTATIVE DATA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038600" y="2895600"/>
            <a:ext cx="3505200" cy="1447800"/>
          </a:xfrm>
          <a:prstGeom prst="rect">
            <a:avLst/>
          </a:prstGeom>
          <a:solidFill>
            <a:schemeClr val="bg2">
              <a:lumMod val="75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u="sng" dirty="0">
                <a:solidFill>
                  <a:schemeClr val="accent4">
                    <a:lumMod val="50000"/>
                  </a:schemeClr>
                </a:solidFill>
              </a:rPr>
              <a:t>PURCHASING</a:t>
            </a:r>
            <a:r>
              <a:rPr lang="en-GB" b="1" u="sng" dirty="0">
                <a:solidFill>
                  <a:srgbClr val="FF3300"/>
                </a:solidFill>
              </a:rPr>
              <a:t> </a:t>
            </a:r>
            <a:r>
              <a:rPr lang="en-GB" b="1" u="sng" dirty="0" smtClean="0">
                <a:solidFill>
                  <a:schemeClr val="accent4">
                    <a:lumMod val="50000"/>
                  </a:schemeClr>
                </a:solidFill>
              </a:rPr>
              <a:t>ORG</a:t>
            </a:r>
            <a:r>
              <a:rPr lang="en-GB" b="1" u="sng" dirty="0">
                <a:solidFill>
                  <a:srgbClr val="FF3300"/>
                </a:solidFill>
              </a:rPr>
              <a:t> </a:t>
            </a:r>
            <a:r>
              <a:rPr lang="en-GB" b="1" u="sng" dirty="0" smtClean="0">
                <a:solidFill>
                  <a:schemeClr val="accent4">
                    <a:lumMod val="50000"/>
                  </a:schemeClr>
                </a:solidFill>
              </a:rPr>
              <a:t>DATA</a:t>
            </a:r>
            <a:endParaRPr lang="en-GB" b="1" u="sng" dirty="0">
              <a:solidFill>
                <a:schemeClr val="accent4">
                  <a:lumMod val="50000"/>
                </a:schemeClr>
              </a:solidFill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>
                <a:solidFill>
                  <a:srgbClr val="000000"/>
                </a:solidFill>
              </a:rPr>
              <a:t>CONTROL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>
                <a:solidFill>
                  <a:srgbClr val="000000"/>
                </a:solidFill>
              </a:rPr>
              <a:t>PRICES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>
                <a:solidFill>
                  <a:srgbClr val="000000"/>
                </a:solidFill>
              </a:rPr>
              <a:t>TEXTS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038600" y="4800600"/>
            <a:ext cx="3505200" cy="1447800"/>
          </a:xfrm>
          <a:prstGeom prst="rect">
            <a:avLst/>
          </a:prstGeom>
          <a:solidFill>
            <a:schemeClr val="bg2">
              <a:lumMod val="75000"/>
            </a:schemeClr>
          </a:solidFill>
          <a:ln w="936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u="sng" dirty="0">
                <a:solidFill>
                  <a:schemeClr val="accent4">
                    <a:lumMod val="50000"/>
                  </a:schemeClr>
                </a:solidFill>
              </a:rPr>
              <a:t>PURCHASE</a:t>
            </a:r>
            <a:r>
              <a:rPr lang="en-GB" b="1" u="sng" dirty="0">
                <a:solidFill>
                  <a:srgbClr val="FF3300"/>
                </a:solidFill>
              </a:rPr>
              <a:t> </a:t>
            </a:r>
            <a:r>
              <a:rPr lang="en-GB" b="1" u="sng" dirty="0">
                <a:solidFill>
                  <a:schemeClr val="accent4">
                    <a:lumMod val="50000"/>
                  </a:schemeClr>
                </a:solidFill>
              </a:rPr>
              <a:t>ORG/PALNT</a:t>
            </a:r>
            <a:r>
              <a:rPr lang="en-GB" b="1" u="sng" dirty="0">
                <a:solidFill>
                  <a:srgbClr val="FF3300"/>
                </a:solidFill>
              </a:rPr>
              <a:t> </a:t>
            </a:r>
            <a:r>
              <a:rPr lang="en-GB" b="1" u="sng" dirty="0">
                <a:solidFill>
                  <a:schemeClr val="accent4">
                    <a:lumMod val="50000"/>
                  </a:schemeClr>
                </a:solidFill>
              </a:rPr>
              <a:t>DATA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>
                <a:solidFill>
                  <a:srgbClr val="000000"/>
                </a:solidFill>
              </a:rPr>
              <a:t>CONTROL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>
                <a:solidFill>
                  <a:srgbClr val="000000"/>
                </a:solidFill>
              </a:rPr>
              <a:t>PRICES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dirty="0">
                <a:solidFill>
                  <a:srgbClr val="000000"/>
                </a:solidFill>
              </a:rPr>
              <a:t>TEXT</a:t>
            </a: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914400" y="685800"/>
            <a:ext cx="1143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b="1" u="sng" dirty="0">
                <a:solidFill>
                  <a:schemeClr val="accent4">
                    <a:lumMod val="50000"/>
                  </a:schemeClr>
                </a:solidFill>
              </a:rPr>
              <a:t>PIR</a:t>
            </a: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2057400" y="1371600"/>
            <a:ext cx="8382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2895600" y="1371600"/>
            <a:ext cx="1588" cy="419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895600" y="1828800"/>
            <a:ext cx="11430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2895600" y="3657600"/>
            <a:ext cx="11430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2895600" y="5562600"/>
            <a:ext cx="11430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4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2195E-88A5-4E79-8AD4-7DB90F5F9C3B}" type="datetime1">
              <a:rPr lang="en-US" smtClean="0"/>
              <a:t>2/5/2020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30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86882"/>
              </p:ext>
            </p:extLst>
          </p:nvPr>
        </p:nvGraphicFramePr>
        <p:xfrm>
          <a:off x="207491" y="1219200"/>
          <a:ext cx="6879108" cy="5638800"/>
        </p:xfrm>
        <a:graphic>
          <a:graphicData uri="http://schemas.openxmlformats.org/drawingml/2006/table">
            <a:tbl>
              <a:tblPr/>
              <a:tblGrid>
                <a:gridCol w="3439554">
                  <a:extLst>
                    <a:ext uri="{9D8B030D-6E8A-4147-A177-3AD203B41FA5}">
                      <a16:colId xmlns:a16="http://schemas.microsoft.com/office/drawing/2014/main" val="17252262"/>
                    </a:ext>
                  </a:extLst>
                </a:gridCol>
                <a:gridCol w="3439554">
                  <a:extLst>
                    <a:ext uri="{9D8B030D-6E8A-4147-A177-3AD203B41FA5}">
                      <a16:colId xmlns:a16="http://schemas.microsoft.com/office/drawing/2014/main" val="3620968821"/>
                    </a:ext>
                  </a:extLst>
                </a:gridCol>
              </a:tblGrid>
              <a:tr h="5030963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 smtClean="0">
                          <a:effectLst/>
                        </a:rPr>
                        <a:t>MARA</a:t>
                      </a: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Material Master</a:t>
                      </a:r>
                      <a:r>
                        <a:rPr lang="en-US" b="0" dirty="0" smtClean="0">
                          <a:effectLst/>
                        </a:rPr>
                        <a:t>: General data</a:t>
                      </a: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 smtClean="0">
                        <a:effectLst/>
                      </a:endParaRPr>
                    </a:p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1144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106545"/>
              </p:ext>
            </p:extLst>
          </p:nvPr>
        </p:nvGraphicFramePr>
        <p:xfrm>
          <a:off x="228601" y="1645920"/>
          <a:ext cx="6857998" cy="853440"/>
        </p:xfrm>
        <a:graphic>
          <a:graphicData uri="http://schemas.openxmlformats.org/drawingml/2006/table">
            <a:tbl>
              <a:tblPr/>
              <a:tblGrid>
                <a:gridCol w="3418444">
                  <a:extLst>
                    <a:ext uri="{9D8B030D-6E8A-4147-A177-3AD203B41FA5}">
                      <a16:colId xmlns:a16="http://schemas.microsoft.com/office/drawing/2014/main" val="383662233"/>
                    </a:ext>
                  </a:extLst>
                </a:gridCol>
                <a:gridCol w="3439554">
                  <a:extLst>
                    <a:ext uri="{9D8B030D-6E8A-4147-A177-3AD203B41FA5}">
                      <a16:colId xmlns:a16="http://schemas.microsoft.com/office/drawing/2014/main" val="1044992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MARC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Material master: Plant data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563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MARD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Material master: Storage location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13128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005989"/>
              </p:ext>
            </p:extLst>
          </p:nvPr>
        </p:nvGraphicFramePr>
        <p:xfrm>
          <a:off x="207491" y="2499360"/>
          <a:ext cx="6879108" cy="1280160"/>
        </p:xfrm>
        <a:graphic>
          <a:graphicData uri="http://schemas.openxmlformats.org/drawingml/2006/table">
            <a:tbl>
              <a:tblPr/>
              <a:tblGrid>
                <a:gridCol w="3439554">
                  <a:extLst>
                    <a:ext uri="{9D8B030D-6E8A-4147-A177-3AD203B41FA5}">
                      <a16:colId xmlns:a16="http://schemas.microsoft.com/office/drawing/2014/main" val="1992189756"/>
                    </a:ext>
                  </a:extLst>
                </a:gridCol>
                <a:gridCol w="3439554">
                  <a:extLst>
                    <a:ext uri="{9D8B030D-6E8A-4147-A177-3AD203B41FA5}">
                      <a16:colId xmlns:a16="http://schemas.microsoft.com/office/drawing/2014/main" val="39896745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LFA1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Vendor Master: General data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8431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LFB1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Vendor Master: Company data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938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LFM1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 smtClean="0">
                          <a:effectLst/>
                        </a:rPr>
                        <a:t>VM </a:t>
                      </a:r>
                      <a:r>
                        <a:rPr lang="en-US" b="0" dirty="0">
                          <a:effectLst/>
                        </a:rPr>
                        <a:t>Purchasing </a:t>
                      </a:r>
                      <a:r>
                        <a:rPr lang="en-US" b="0" dirty="0" smtClean="0">
                          <a:effectLst/>
                        </a:rPr>
                        <a:t>Data</a:t>
                      </a:r>
                      <a:endParaRPr lang="en-US" b="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2499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036389"/>
              </p:ext>
            </p:extLst>
          </p:nvPr>
        </p:nvGraphicFramePr>
        <p:xfrm>
          <a:off x="207491" y="3733799"/>
          <a:ext cx="6879108" cy="853440"/>
        </p:xfrm>
        <a:graphic>
          <a:graphicData uri="http://schemas.openxmlformats.org/drawingml/2006/table">
            <a:tbl>
              <a:tblPr/>
              <a:tblGrid>
                <a:gridCol w="3439554">
                  <a:extLst>
                    <a:ext uri="{9D8B030D-6E8A-4147-A177-3AD203B41FA5}">
                      <a16:colId xmlns:a16="http://schemas.microsoft.com/office/drawing/2014/main" val="3018241145"/>
                    </a:ext>
                  </a:extLst>
                </a:gridCol>
                <a:gridCol w="3439554">
                  <a:extLst>
                    <a:ext uri="{9D8B030D-6E8A-4147-A177-3AD203B41FA5}">
                      <a16:colId xmlns:a16="http://schemas.microsoft.com/office/drawing/2014/main" val="755681279"/>
                    </a:ext>
                  </a:extLst>
                </a:gridCol>
              </a:tblGrid>
              <a:tr h="381001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EKKO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Purchasing document header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96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EKPO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Purchasing Document: Item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31111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563356"/>
              </p:ext>
            </p:extLst>
          </p:nvPr>
        </p:nvGraphicFramePr>
        <p:xfrm>
          <a:off x="193636" y="4495800"/>
          <a:ext cx="6892962" cy="1706880"/>
        </p:xfrm>
        <a:graphic>
          <a:graphicData uri="http://schemas.openxmlformats.org/drawingml/2006/table">
            <a:tbl>
              <a:tblPr/>
              <a:tblGrid>
                <a:gridCol w="3446481">
                  <a:extLst>
                    <a:ext uri="{9D8B030D-6E8A-4147-A177-3AD203B41FA5}">
                      <a16:colId xmlns:a16="http://schemas.microsoft.com/office/drawing/2014/main" val="816249957"/>
                    </a:ext>
                  </a:extLst>
                </a:gridCol>
                <a:gridCol w="3446481">
                  <a:extLst>
                    <a:ext uri="{9D8B030D-6E8A-4147-A177-3AD203B41FA5}">
                      <a16:colId xmlns:a16="http://schemas.microsoft.com/office/drawing/2014/main" val="428843381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EINA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Purchase Info Record: General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0619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EINE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 smtClean="0">
                          <a:effectLst/>
                        </a:rPr>
                        <a:t>PIR: </a:t>
                      </a:r>
                      <a:r>
                        <a:rPr lang="en-US" b="0" dirty="0">
                          <a:effectLst/>
                        </a:rPr>
                        <a:t>purchasing organization data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830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KONP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Condition Item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452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KONH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Condition Header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88017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124644"/>
              </p:ext>
            </p:extLst>
          </p:nvPr>
        </p:nvGraphicFramePr>
        <p:xfrm>
          <a:off x="207490" y="6151982"/>
          <a:ext cx="6879108" cy="426720"/>
        </p:xfrm>
        <a:graphic>
          <a:graphicData uri="http://schemas.openxmlformats.org/drawingml/2006/table">
            <a:tbl>
              <a:tblPr/>
              <a:tblGrid>
                <a:gridCol w="3439554">
                  <a:extLst>
                    <a:ext uri="{9D8B030D-6E8A-4147-A177-3AD203B41FA5}">
                      <a16:colId xmlns:a16="http://schemas.microsoft.com/office/drawing/2014/main" val="3801205510"/>
                    </a:ext>
                  </a:extLst>
                </a:gridCol>
                <a:gridCol w="3439554">
                  <a:extLst>
                    <a:ext uri="{9D8B030D-6E8A-4147-A177-3AD203B41FA5}">
                      <a16:colId xmlns:a16="http://schemas.microsoft.com/office/drawing/2014/main" val="1215005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EORD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Purchasing Source List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659128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-2126825" y="381985"/>
            <a:ext cx="7560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 smtClean="0">
                <a:solidFill>
                  <a:srgbClr val="000000"/>
                </a:solidFill>
              </a:rPr>
              <a:t>                                                            Important </a:t>
            </a:r>
            <a:r>
              <a:rPr lang="en-US" sz="2800" dirty="0">
                <a:solidFill>
                  <a:srgbClr val="000000"/>
                </a:solidFill>
              </a:rPr>
              <a:t>Tables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2205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8800" dirty="0" smtClean="0">
                <a:latin typeface="Aharoni" pitchFamily="2" charset="-79"/>
                <a:cs typeface="Aharoni" pitchFamily="2" charset="-79"/>
              </a:rPr>
              <a:t>Thank you</a:t>
            </a:r>
            <a:endParaRPr lang="en-US" sz="8800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D911-97CC-43A8-B78A-150E2A538CFF}" type="datetime1">
              <a:rPr lang="en-US" smtClean="0"/>
              <a:t>2/5/2020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65402-0672-41F8-B369-ECFC21D973EC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3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3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960</TotalTime>
  <Words>1020</Words>
  <Application>Microsoft Office PowerPoint</Application>
  <PresentationFormat>On-screen Show (4:3)</PresentationFormat>
  <Paragraphs>231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Aharoni</vt:lpstr>
      <vt:lpstr>Algerian</vt:lpstr>
      <vt:lpstr>Arial</vt:lpstr>
      <vt:lpstr>Calibri</vt:lpstr>
      <vt:lpstr>Candara</vt:lpstr>
      <vt:lpstr>Symbol</vt:lpstr>
      <vt:lpstr>Wingdings</vt:lpstr>
      <vt:lpstr>Waveform</vt:lpstr>
      <vt:lpstr> SAP Material Management                  </vt:lpstr>
      <vt:lpstr>Agenda             </vt:lpstr>
      <vt:lpstr>Over view of Material management               </vt:lpstr>
      <vt:lpstr>Procure To Pay Process</vt:lpstr>
      <vt:lpstr>Determination of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Material management  Organization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MASTER DATA</vt:lpstr>
      <vt:lpstr>MATERIAL MASTER DATA</vt:lpstr>
      <vt:lpstr>PowerPoint Presentation</vt:lpstr>
      <vt:lpstr>VENDOR MASTER </vt:lpstr>
      <vt:lpstr>PowerPoint Presentation</vt:lpstr>
      <vt:lpstr>Source Determination</vt:lpstr>
      <vt:lpstr>SOURCE LIST </vt:lpstr>
      <vt:lpstr>PURCHASE INFO RECORD(PIR)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Aruna sapmm interview questions</dc:title>
  <dc:creator>admin</dc:creator>
  <cp:lastModifiedBy>703160396@ind.ge.ad</cp:lastModifiedBy>
  <cp:revision>87</cp:revision>
  <dcterms:created xsi:type="dcterms:W3CDTF">2019-08-05T07:40:33Z</dcterms:created>
  <dcterms:modified xsi:type="dcterms:W3CDTF">2020-02-05T18:00:47Z</dcterms:modified>
</cp:coreProperties>
</file>
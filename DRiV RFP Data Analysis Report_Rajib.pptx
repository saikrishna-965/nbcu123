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89" r:id="rId5"/>
  </p:sldMasterIdLst>
  <p:notesMasterIdLst>
    <p:notesMasterId r:id="rId13"/>
  </p:notesMasterIdLst>
  <p:handoutMasterIdLst>
    <p:handoutMasterId r:id="rId14"/>
  </p:handoutMasterIdLst>
  <p:sldIdLst>
    <p:sldId id="3656" r:id="rId6"/>
    <p:sldId id="3651" r:id="rId7"/>
    <p:sldId id="3654" r:id="rId8"/>
    <p:sldId id="3652" r:id="rId9"/>
    <p:sldId id="3653" r:id="rId10"/>
    <p:sldId id="3657" r:id="rId11"/>
    <p:sldId id="3658" r:id="rId12"/>
  </p:sldIdLst>
  <p:sldSz cx="12192000" cy="6858000"/>
  <p:notesSz cx="9236075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84">
          <p15:clr>
            <a:srgbClr val="A4A3A4"/>
          </p15:clr>
        </p15:guide>
        <p15:guide id="4" orient="horz" pos="3940">
          <p15:clr>
            <a:srgbClr val="A4A3A4"/>
          </p15:clr>
        </p15:guide>
        <p15:guide id="5" orient="horz" pos="288">
          <p15:clr>
            <a:srgbClr val="A4A3A4"/>
          </p15:clr>
        </p15:guide>
        <p15:guide id="6" orient="horz" pos="731">
          <p15:clr>
            <a:srgbClr val="A4A3A4"/>
          </p15:clr>
        </p15:guide>
        <p15:guide id="7" orient="horz" pos="649">
          <p15:clr>
            <a:srgbClr val="A4A3A4"/>
          </p15:clr>
        </p15:guide>
        <p15:guide id="8" orient="horz" pos="1229">
          <p15:clr>
            <a:srgbClr val="A4A3A4"/>
          </p15:clr>
        </p15:guide>
        <p15:guide id="9" orient="horz" pos="1680">
          <p15:clr>
            <a:srgbClr val="A4A3A4"/>
          </p15:clr>
        </p15:guide>
        <p15:guide id="10" orient="horz" pos="4319">
          <p15:clr>
            <a:srgbClr val="A4A3A4"/>
          </p15:clr>
        </p15:guide>
        <p15:guide id="11" pos="304">
          <p15:clr>
            <a:srgbClr val="A4A3A4"/>
          </p15:clr>
        </p15:guide>
        <p15:guide id="12" pos="74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437"/>
    <a:srgbClr val="DDEDF3"/>
    <a:srgbClr val="073262"/>
    <a:srgbClr val="E7E8EA"/>
    <a:srgbClr val="9FFBC4"/>
    <a:srgbClr val="CBE3ED"/>
    <a:srgbClr val="456589"/>
    <a:srgbClr val="E7F2F6"/>
    <a:srgbClr val="FFFF99"/>
    <a:srgbClr val="CEE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21" autoAdjust="0"/>
    <p:restoredTop sz="94343" autoAdjust="0"/>
  </p:normalViewPr>
  <p:slideViewPr>
    <p:cSldViewPr>
      <p:cViewPr varScale="1">
        <p:scale>
          <a:sx n="72" d="100"/>
          <a:sy n="72" d="100"/>
        </p:scale>
        <p:origin x="852" y="66"/>
      </p:cViewPr>
      <p:guideLst>
        <p:guide orient="horz" pos="2880"/>
        <p:guide pos="2160"/>
        <p:guide orient="horz" pos="384"/>
        <p:guide orient="horz" pos="3940"/>
        <p:guide orient="horz" pos="288"/>
        <p:guide orient="horz" pos="731"/>
        <p:guide orient="horz" pos="649"/>
        <p:guide orient="horz" pos="1229"/>
        <p:guide orient="horz" pos="1680"/>
        <p:guide orient="horz" pos="4319"/>
        <p:guide pos="304"/>
        <p:guide pos="7408"/>
      </p:guideLst>
    </p:cSldViewPr>
  </p:slideViewPr>
  <p:outlineViewPr>
    <p:cViewPr>
      <p:scale>
        <a:sx n="33" d="100"/>
        <a:sy n="33" d="100"/>
      </p:scale>
      <p:origin x="0" y="-9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350"/>
    </p:cViewPr>
  </p:sorterViewPr>
  <p:notesViewPr>
    <p:cSldViewPr showGuides="1">
      <p:cViewPr varScale="1">
        <p:scale>
          <a:sx n="69" d="100"/>
          <a:sy n="69" d="100"/>
        </p:scale>
        <p:origin x="1140" y="40"/>
      </p:cViewPr>
      <p:guideLst>
        <p:guide orient="horz" pos="2208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genpactonline.sharepoint.com/sites/DRiVRFP/Shared%20Documents/General/Attachment%20A%20-%20DRiV%20Application%20Portfolio%20Data%20-%20v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genpactonline.sharepoint.com/sites/DRiVRFP/Shared%20Documents/General/Attachment%20A%20-%20DRiV%20Application%20Portfolio%20Data%20-%20v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genpactonline.sharepoint.com/sites/DRiVRFP/Shared%20Documents/General/Attachment%20A%20-%20DRiV%20Application%20Portfolio%20Data%20-%20v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[Attachment A - DRiV Application Portfolio Data - v1.xlsx]Sheet4!PivotTable15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Sheet4!$B$3:$B$4</c:f>
              <c:strCache>
                <c:ptCount val="1"/>
                <c:pt idx="0">
                  <c:v>ADM ERP - Package S/W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Sheet4!$B$5:$B$13</c:f>
              <c:numCache>
                <c:formatCode>General</c:formatCode>
                <c:ptCount val="8"/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DD-49CE-B3CF-D494819414B2}"/>
            </c:ext>
          </c:extLst>
        </c:ser>
        <c:ser>
          <c:idx val="1"/>
          <c:order val="1"/>
          <c:tx>
            <c:strRef>
              <c:f>Sheet4!$C$3:$C$4</c:f>
              <c:strCache>
                <c:ptCount val="1"/>
                <c:pt idx="0">
                  <c:v>ADM ERP Java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Sheet4!$C$5:$C$13</c:f>
              <c:numCache>
                <c:formatCode>General</c:formatCode>
                <c:ptCount val="8"/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DD-49CE-B3CF-D494819414B2}"/>
            </c:ext>
          </c:extLst>
        </c:ser>
        <c:ser>
          <c:idx val="2"/>
          <c:order val="2"/>
          <c:tx>
            <c:strRef>
              <c:f>Sheet4!$D$3:$D$4</c:f>
              <c:strCache>
                <c:ptCount val="1"/>
                <c:pt idx="0">
                  <c:v>ADM ERP Mainframe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Sheet4!$D$5:$D$13</c:f>
              <c:numCache>
                <c:formatCode>General</c:formatCode>
                <c:ptCount val="8"/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DD-49CE-B3CF-D494819414B2}"/>
            </c:ext>
          </c:extLst>
        </c:ser>
        <c:ser>
          <c:idx val="3"/>
          <c:order val="3"/>
          <c:tx>
            <c:strRef>
              <c:f>Sheet4!$E$3:$E$4</c:f>
              <c:strCache>
                <c:ptCount val="1"/>
                <c:pt idx="0">
                  <c:v>ADM ERP Microsoft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Sheet4!$E$5:$E$13</c:f>
              <c:numCache>
                <c:formatCode>General</c:formatCode>
                <c:ptCount val="8"/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EDD-49CE-B3CF-D494819414B2}"/>
            </c:ext>
          </c:extLst>
        </c:ser>
        <c:ser>
          <c:idx val="4"/>
          <c:order val="4"/>
          <c:tx>
            <c:strRef>
              <c:f>Sheet4!$F$3:$F$4</c:f>
              <c:strCache>
                <c:ptCount val="1"/>
                <c:pt idx="0">
                  <c:v>ADM Java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Sheet4!$F$5:$F$13</c:f>
              <c:numCache>
                <c:formatCode>General</c:formatCode>
                <c:ptCount val="8"/>
                <c:pt idx="1">
                  <c:v>8</c:v>
                </c:pt>
                <c:pt idx="3">
                  <c:v>2</c:v>
                </c:pt>
                <c:pt idx="4">
                  <c:v>1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DD-49CE-B3CF-D494819414B2}"/>
            </c:ext>
          </c:extLst>
        </c:ser>
        <c:ser>
          <c:idx val="5"/>
          <c:order val="5"/>
          <c:tx>
            <c:strRef>
              <c:f>Sheet4!$G$3:$G$4</c:f>
              <c:strCache>
                <c:ptCount val="1"/>
                <c:pt idx="0">
                  <c:v>ADM Legacy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Sheet4!$G$5:$G$13</c:f>
              <c:numCache>
                <c:formatCode>General</c:formatCode>
                <c:ptCount val="8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EDD-49CE-B3CF-D494819414B2}"/>
            </c:ext>
          </c:extLst>
        </c:ser>
        <c:ser>
          <c:idx val="6"/>
          <c:order val="6"/>
          <c:tx>
            <c:strRef>
              <c:f>Sheet4!$H$3:$H$4</c:f>
              <c:strCache>
                <c:ptCount val="1"/>
                <c:pt idx="0">
                  <c:v>ADM Legacy - Package S/W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Sheet4!$H$5:$H$13</c:f>
              <c:numCache>
                <c:formatCode>General</c:formatCode>
                <c:ptCount val="8"/>
                <c:pt idx="1">
                  <c:v>8</c:v>
                </c:pt>
                <c:pt idx="2">
                  <c:v>1</c:v>
                </c:pt>
                <c:pt idx="5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EDD-49CE-B3CF-D494819414B2}"/>
            </c:ext>
          </c:extLst>
        </c:ser>
        <c:ser>
          <c:idx val="7"/>
          <c:order val="7"/>
          <c:tx>
            <c:strRef>
              <c:f>Sheet4!$I$3:$I$4</c:f>
              <c:strCache>
                <c:ptCount val="1"/>
                <c:pt idx="0">
                  <c:v>ADM Mainframe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Sheet4!$I$5:$I$13</c:f>
              <c:numCache>
                <c:formatCode>General</c:formatCode>
                <c:ptCount val="8"/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EDD-49CE-B3CF-D494819414B2}"/>
            </c:ext>
          </c:extLst>
        </c:ser>
        <c:ser>
          <c:idx val="8"/>
          <c:order val="8"/>
          <c:tx>
            <c:strRef>
              <c:f>Sheet4!$J$3:$J$4</c:f>
              <c:strCache>
                <c:ptCount val="1"/>
                <c:pt idx="0">
                  <c:v>ADM Microsoft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Sheet4!$J$5:$J$13</c:f>
              <c:numCache>
                <c:formatCode>General</c:formatCode>
                <c:ptCount val="8"/>
                <c:pt idx="1">
                  <c:v>21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EDD-49CE-B3CF-D494819414B2}"/>
            </c:ext>
          </c:extLst>
        </c:ser>
        <c:ser>
          <c:idx val="9"/>
          <c:order val="9"/>
          <c:tx>
            <c:strRef>
              <c:f>Sheet4!$K$3:$K$4</c:f>
              <c:strCache>
                <c:ptCount val="1"/>
                <c:pt idx="0">
                  <c:v>ADM SaaS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Sheet4!$K$5:$K$13</c:f>
              <c:numCache>
                <c:formatCode>General</c:formatCode>
                <c:ptCount val="8"/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EDD-49CE-B3CF-D494819414B2}"/>
            </c:ext>
          </c:extLst>
        </c:ser>
        <c:ser>
          <c:idx val="10"/>
          <c:order val="10"/>
          <c:tx>
            <c:strRef>
              <c:f>Sheet4!$L$3:$L$4</c:f>
              <c:strCache>
                <c:ptCount val="1"/>
                <c:pt idx="0">
                  <c:v>ADM UI/UX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Sheet4!$L$5:$L$13</c:f>
              <c:numCache>
                <c:formatCode>General</c:formatCode>
                <c:ptCount val="8"/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EDD-49CE-B3CF-D494819414B2}"/>
            </c:ext>
          </c:extLst>
        </c:ser>
        <c:ser>
          <c:idx val="11"/>
          <c:order val="11"/>
          <c:tx>
            <c:strRef>
              <c:f>Sheet4!$M$3:$M$4</c:f>
              <c:strCache>
                <c:ptCount val="1"/>
                <c:pt idx="0">
                  <c:v>DE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Sheet4!$M$5:$M$13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EDD-49CE-B3CF-D494819414B2}"/>
            </c:ext>
          </c:extLst>
        </c:ser>
        <c:ser>
          <c:idx val="12"/>
          <c:order val="12"/>
          <c:tx>
            <c:strRef>
              <c:f>Sheet4!$N$3:$N$4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Sheet4!$N$5:$N$13</c:f>
              <c:numCache>
                <c:formatCode>General</c:formatCode>
                <c:ptCount val="8"/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EDD-49CE-B3CF-D494819414B2}"/>
            </c:ext>
          </c:extLst>
        </c:ser>
        <c:ser>
          <c:idx val="13"/>
          <c:order val="13"/>
          <c:tx>
            <c:strRef>
              <c:f>Sheet4!$O$3:$O$4</c:f>
              <c:strCache>
                <c:ptCount val="1"/>
                <c:pt idx="0">
                  <c:v>ITMS</c:v>
                </c:pt>
              </c:strCache>
            </c:strRef>
          </c:tx>
          <c:spPr>
            <a:solidFill>
              <a:schemeClr val="accent2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Sheet4!$O$5:$O$13</c:f>
              <c:numCache>
                <c:formatCode>General</c:formatCode>
                <c:ptCount val="8"/>
                <c:pt idx="1">
                  <c:v>1</c:v>
                </c:pt>
                <c:pt idx="3">
                  <c:v>2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BEDD-49CE-B3CF-D494819414B2}"/>
            </c:ext>
          </c:extLst>
        </c:ser>
        <c:ser>
          <c:idx val="14"/>
          <c:order val="14"/>
          <c:tx>
            <c:strRef>
              <c:f>Sheet4!$P$3:$P$4</c:f>
              <c:strCache>
                <c:ptCount val="1"/>
                <c:pt idx="0">
                  <c:v>Oracle 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Sheet4!$P$5:$P$13</c:f>
              <c:numCache>
                <c:formatCode>General</c:formatCode>
                <c:ptCount val="8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EDD-49CE-B3CF-D494819414B2}"/>
            </c:ext>
          </c:extLst>
        </c:ser>
        <c:ser>
          <c:idx val="15"/>
          <c:order val="15"/>
          <c:tx>
            <c:strRef>
              <c:f>Sheet4!$Q$3:$Q$4</c:f>
              <c:strCache>
                <c:ptCount val="1"/>
                <c:pt idx="0">
                  <c:v>SAP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Sheet4!$A$5:$A$13</c:f>
              <c:strCache>
                <c:ptCount val="8"/>
                <c:pt idx="0">
                  <c:v>BI</c:v>
                </c:pt>
                <c:pt idx="1">
                  <c:v>Corporate</c:v>
                </c:pt>
                <c:pt idx="2">
                  <c:v>Distribution</c:v>
                </c:pt>
                <c:pt idx="3">
                  <c:v>Engineering</c:v>
                </c:pt>
                <c:pt idx="4">
                  <c:v>Integration</c:v>
                </c:pt>
                <c:pt idx="5">
                  <c:v>NON-SAP ERP</c:v>
                </c:pt>
                <c:pt idx="6">
                  <c:v>Sales &amp; Marketing</c:v>
                </c:pt>
                <c:pt idx="7">
                  <c:v>SAP</c:v>
                </c:pt>
              </c:strCache>
            </c:strRef>
          </c:cat>
          <c:val>
            <c:numRef>
              <c:f>Sheet4!$Q$5:$Q$13</c:f>
              <c:numCache>
                <c:formatCode>General</c:formatCode>
                <c:ptCount val="8"/>
                <c:pt idx="0">
                  <c:v>2</c:v>
                </c:pt>
                <c:pt idx="4">
                  <c:v>1</c:v>
                </c:pt>
                <c:pt idx="6">
                  <c:v>3</c:v>
                </c:pt>
                <c:pt idx="7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BEDD-49CE-B3CF-D494819414B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879051039"/>
        <c:axId val="1859363375"/>
      </c:barChart>
      <c:catAx>
        <c:axId val="1879051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363375"/>
        <c:crosses val="autoZero"/>
        <c:auto val="1"/>
        <c:lblAlgn val="ctr"/>
        <c:lblOffset val="100"/>
        <c:noMultiLvlLbl val="0"/>
      </c:catAx>
      <c:valAx>
        <c:axId val="1859363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905103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[Attachment A - DRiV Application Portfolio Data - v1.xlsx]Dashboard!PivotTable3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Dashboard!$B$3:$B$4</c:f>
              <c:strCache>
                <c:ptCount val="1"/>
                <c:pt idx="0">
                  <c:v>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Dashboard!$A$5:$A$21</c:f>
              <c:strCache>
                <c:ptCount val="16"/>
                <c:pt idx="0">
                  <c:v>Engineering</c:v>
                </c:pt>
                <c:pt idx="1">
                  <c:v>ADM Microsoft</c:v>
                </c:pt>
                <c:pt idx="2">
                  <c:v>SAP</c:v>
                </c:pt>
                <c:pt idx="3">
                  <c:v>ADM Java</c:v>
                </c:pt>
                <c:pt idx="4">
                  <c:v>ADM Legacy - Package S/W</c:v>
                </c:pt>
                <c:pt idx="5">
                  <c:v>ADM ERP Microsoft</c:v>
                </c:pt>
                <c:pt idx="6">
                  <c:v>DE</c:v>
                </c:pt>
                <c:pt idx="7">
                  <c:v>ITMS</c:v>
                </c:pt>
                <c:pt idx="8">
                  <c:v>ADM ERP Java</c:v>
                </c:pt>
                <c:pt idx="9">
                  <c:v>Oracle </c:v>
                </c:pt>
                <c:pt idx="10">
                  <c:v>ADM ERP - Package S/W</c:v>
                </c:pt>
                <c:pt idx="11">
                  <c:v>ADM ERP Mainframe</c:v>
                </c:pt>
                <c:pt idx="12">
                  <c:v>ADM SaaS</c:v>
                </c:pt>
                <c:pt idx="13">
                  <c:v>ADM Legacy</c:v>
                </c:pt>
                <c:pt idx="14">
                  <c:v>ADM UI/UX</c:v>
                </c:pt>
                <c:pt idx="15">
                  <c:v>ADM Mainframe</c:v>
                </c:pt>
              </c:strCache>
            </c:strRef>
          </c:cat>
          <c:val>
            <c:numRef>
              <c:f>Dashboard!$B$5:$B$21</c:f>
              <c:numCache>
                <c:formatCode>General</c:formatCode>
                <c:ptCount val="16"/>
                <c:pt idx="0">
                  <c:v>1</c:v>
                </c:pt>
                <c:pt idx="1">
                  <c:v>11</c:v>
                </c:pt>
                <c:pt idx="2">
                  <c:v>19</c:v>
                </c:pt>
                <c:pt idx="3">
                  <c:v>17</c:v>
                </c:pt>
                <c:pt idx="4">
                  <c:v>15</c:v>
                </c:pt>
                <c:pt idx="5">
                  <c:v>9</c:v>
                </c:pt>
                <c:pt idx="6">
                  <c:v>4</c:v>
                </c:pt>
                <c:pt idx="10">
                  <c:v>3</c:v>
                </c:pt>
                <c:pt idx="11">
                  <c:v>2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8F-4C9D-A1CA-94E75D4931D6}"/>
            </c:ext>
          </c:extLst>
        </c:ser>
        <c:ser>
          <c:idx val="1"/>
          <c:order val="1"/>
          <c:tx>
            <c:strRef>
              <c:f>Dashboard!$C$3:$C$4</c:f>
              <c:strCache>
                <c:ptCount val="1"/>
                <c:pt idx="0">
                  <c:v>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Dashboard!$A$5:$A$21</c:f>
              <c:strCache>
                <c:ptCount val="16"/>
                <c:pt idx="0">
                  <c:v>Engineering</c:v>
                </c:pt>
                <c:pt idx="1">
                  <c:v>ADM Microsoft</c:v>
                </c:pt>
                <c:pt idx="2">
                  <c:v>SAP</c:v>
                </c:pt>
                <c:pt idx="3">
                  <c:v>ADM Java</c:v>
                </c:pt>
                <c:pt idx="4">
                  <c:v>ADM Legacy - Package S/W</c:v>
                </c:pt>
                <c:pt idx="5">
                  <c:v>ADM ERP Microsoft</c:v>
                </c:pt>
                <c:pt idx="6">
                  <c:v>DE</c:v>
                </c:pt>
                <c:pt idx="7">
                  <c:v>ITMS</c:v>
                </c:pt>
                <c:pt idx="8">
                  <c:v>ADM ERP Java</c:v>
                </c:pt>
                <c:pt idx="9">
                  <c:v>Oracle </c:v>
                </c:pt>
                <c:pt idx="10">
                  <c:v>ADM ERP - Package S/W</c:v>
                </c:pt>
                <c:pt idx="11">
                  <c:v>ADM ERP Mainframe</c:v>
                </c:pt>
                <c:pt idx="12">
                  <c:v>ADM SaaS</c:v>
                </c:pt>
                <c:pt idx="13">
                  <c:v>ADM Legacy</c:v>
                </c:pt>
                <c:pt idx="14">
                  <c:v>ADM UI/UX</c:v>
                </c:pt>
                <c:pt idx="15">
                  <c:v>ADM Mainframe</c:v>
                </c:pt>
              </c:strCache>
            </c:strRef>
          </c:cat>
          <c:val>
            <c:numRef>
              <c:f>Dashboard!$C$5:$C$21</c:f>
              <c:numCache>
                <c:formatCode>General</c:formatCode>
                <c:ptCount val="16"/>
                <c:pt idx="0">
                  <c:v>1</c:v>
                </c:pt>
                <c:pt idx="1">
                  <c:v>9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7">
                  <c:v>1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8F-4C9D-A1CA-94E75D4931D6}"/>
            </c:ext>
          </c:extLst>
        </c:ser>
        <c:ser>
          <c:idx val="2"/>
          <c:order val="2"/>
          <c:tx>
            <c:strRef>
              <c:f>Dashboard!$D$3:$D$4</c:f>
              <c:strCache>
                <c:ptCount val="1"/>
                <c:pt idx="0">
                  <c:v>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Dashboard!$A$5:$A$21</c:f>
              <c:strCache>
                <c:ptCount val="16"/>
                <c:pt idx="0">
                  <c:v>Engineering</c:v>
                </c:pt>
                <c:pt idx="1">
                  <c:v>ADM Microsoft</c:v>
                </c:pt>
                <c:pt idx="2">
                  <c:v>SAP</c:v>
                </c:pt>
                <c:pt idx="3">
                  <c:v>ADM Java</c:v>
                </c:pt>
                <c:pt idx="4">
                  <c:v>ADM Legacy - Package S/W</c:v>
                </c:pt>
                <c:pt idx="5">
                  <c:v>ADM ERP Microsoft</c:v>
                </c:pt>
                <c:pt idx="6">
                  <c:v>DE</c:v>
                </c:pt>
                <c:pt idx="7">
                  <c:v>ITMS</c:v>
                </c:pt>
                <c:pt idx="8">
                  <c:v>ADM ERP Java</c:v>
                </c:pt>
                <c:pt idx="9">
                  <c:v>Oracle </c:v>
                </c:pt>
                <c:pt idx="10">
                  <c:v>ADM ERP - Package S/W</c:v>
                </c:pt>
                <c:pt idx="11">
                  <c:v>ADM ERP Mainframe</c:v>
                </c:pt>
                <c:pt idx="12">
                  <c:v>ADM SaaS</c:v>
                </c:pt>
                <c:pt idx="13">
                  <c:v>ADM Legacy</c:v>
                </c:pt>
                <c:pt idx="14">
                  <c:v>ADM UI/UX</c:v>
                </c:pt>
                <c:pt idx="15">
                  <c:v>ADM Mainframe</c:v>
                </c:pt>
              </c:strCache>
            </c:strRef>
          </c:cat>
          <c:val>
            <c:numRef>
              <c:f>Dashboard!$D$5:$D$21</c:f>
              <c:numCache>
                <c:formatCode>General</c:formatCode>
                <c:ptCount val="16"/>
                <c:pt idx="0">
                  <c:v>21</c:v>
                </c:pt>
                <c:pt idx="1">
                  <c:v>9</c:v>
                </c:pt>
                <c:pt idx="2">
                  <c:v>6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  <c:pt idx="6">
                  <c:v>3</c:v>
                </c:pt>
                <c:pt idx="7">
                  <c:v>1</c:v>
                </c:pt>
                <c:pt idx="9">
                  <c:v>3</c:v>
                </c:pt>
                <c:pt idx="11">
                  <c:v>1</c:v>
                </c:pt>
                <c:pt idx="12">
                  <c:v>2</c:v>
                </c:pt>
                <c:pt idx="1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58F-4C9D-A1CA-94E75D4931D6}"/>
            </c:ext>
          </c:extLst>
        </c:ser>
        <c:ser>
          <c:idx val="3"/>
          <c:order val="3"/>
          <c:tx>
            <c:strRef>
              <c:f>Dashboard!$E$3:$E$4</c:f>
              <c:strCache>
                <c:ptCount val="1"/>
                <c:pt idx="0">
                  <c:v>(blank)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Dashboard!$A$5:$A$21</c:f>
              <c:strCache>
                <c:ptCount val="16"/>
                <c:pt idx="0">
                  <c:v>Engineering</c:v>
                </c:pt>
                <c:pt idx="1">
                  <c:v>ADM Microsoft</c:v>
                </c:pt>
                <c:pt idx="2">
                  <c:v>SAP</c:v>
                </c:pt>
                <c:pt idx="3">
                  <c:v>ADM Java</c:v>
                </c:pt>
                <c:pt idx="4">
                  <c:v>ADM Legacy - Package S/W</c:v>
                </c:pt>
                <c:pt idx="5">
                  <c:v>ADM ERP Microsoft</c:v>
                </c:pt>
                <c:pt idx="6">
                  <c:v>DE</c:v>
                </c:pt>
                <c:pt idx="7">
                  <c:v>ITMS</c:v>
                </c:pt>
                <c:pt idx="8">
                  <c:v>ADM ERP Java</c:v>
                </c:pt>
                <c:pt idx="9">
                  <c:v>Oracle </c:v>
                </c:pt>
                <c:pt idx="10">
                  <c:v>ADM ERP - Package S/W</c:v>
                </c:pt>
                <c:pt idx="11">
                  <c:v>ADM ERP Mainframe</c:v>
                </c:pt>
                <c:pt idx="12">
                  <c:v>ADM SaaS</c:v>
                </c:pt>
                <c:pt idx="13">
                  <c:v>ADM Legacy</c:v>
                </c:pt>
                <c:pt idx="14">
                  <c:v>ADM UI/UX</c:v>
                </c:pt>
                <c:pt idx="15">
                  <c:v>ADM Mainframe</c:v>
                </c:pt>
              </c:strCache>
            </c:strRef>
          </c:cat>
          <c:val>
            <c:numRef>
              <c:f>Dashboard!$E$5:$E$21</c:f>
              <c:numCache>
                <c:formatCode>General</c:formatCode>
                <c:ptCount val="16"/>
                <c:pt idx="0">
                  <c:v>57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8F-4C9D-A1CA-94E75D4931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870537663"/>
        <c:axId val="2069153359"/>
      </c:barChart>
      <c:catAx>
        <c:axId val="1870537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153359"/>
        <c:crosses val="autoZero"/>
        <c:auto val="1"/>
        <c:lblAlgn val="ctr"/>
        <c:lblOffset val="100"/>
        <c:noMultiLvlLbl val="0"/>
      </c:catAx>
      <c:valAx>
        <c:axId val="2069153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53766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[Attachment A - DRiV Application Portfolio Data - v1.xlsx]Dashboard!PivotTable4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Dashboard!$B$24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Dashboard!$A$25:$A$41</c:f>
              <c:strCache>
                <c:ptCount val="16"/>
                <c:pt idx="0">
                  <c:v>SAP</c:v>
                </c:pt>
                <c:pt idx="1">
                  <c:v>ADM Legacy - Package S/W</c:v>
                </c:pt>
                <c:pt idx="2">
                  <c:v>ADM Java</c:v>
                </c:pt>
                <c:pt idx="3">
                  <c:v>ADM Microsoft</c:v>
                </c:pt>
                <c:pt idx="4">
                  <c:v>Engineering</c:v>
                </c:pt>
                <c:pt idx="5">
                  <c:v>ADM ERP Mainframe</c:v>
                </c:pt>
                <c:pt idx="6">
                  <c:v>DE</c:v>
                </c:pt>
                <c:pt idx="7">
                  <c:v>ADM SaaS</c:v>
                </c:pt>
                <c:pt idx="8">
                  <c:v>ADM Legacy</c:v>
                </c:pt>
                <c:pt idx="9">
                  <c:v>ADM ERP - Package S/W</c:v>
                </c:pt>
                <c:pt idx="10">
                  <c:v>ADM ERP Microsoft</c:v>
                </c:pt>
                <c:pt idx="11">
                  <c:v>ADM Mainframe</c:v>
                </c:pt>
                <c:pt idx="12">
                  <c:v>ADM UI/UX</c:v>
                </c:pt>
                <c:pt idx="13">
                  <c:v>Oracle </c:v>
                </c:pt>
                <c:pt idx="14">
                  <c:v>ADM ERP Java</c:v>
                </c:pt>
                <c:pt idx="15">
                  <c:v>ITMS</c:v>
                </c:pt>
              </c:strCache>
            </c:strRef>
          </c:cat>
          <c:val>
            <c:numRef>
              <c:f>Dashboard!$B$25:$B$41</c:f>
              <c:numCache>
                <c:formatCode>General</c:formatCode>
                <c:ptCount val="16"/>
                <c:pt idx="0">
                  <c:v>8110</c:v>
                </c:pt>
                <c:pt idx="1">
                  <c:v>2274</c:v>
                </c:pt>
                <c:pt idx="2">
                  <c:v>2246</c:v>
                </c:pt>
                <c:pt idx="3">
                  <c:v>2016</c:v>
                </c:pt>
                <c:pt idx="4">
                  <c:v>615</c:v>
                </c:pt>
                <c:pt idx="5">
                  <c:v>505</c:v>
                </c:pt>
                <c:pt idx="6">
                  <c:v>502</c:v>
                </c:pt>
                <c:pt idx="7">
                  <c:v>429</c:v>
                </c:pt>
                <c:pt idx="8">
                  <c:v>305</c:v>
                </c:pt>
                <c:pt idx="9">
                  <c:v>273</c:v>
                </c:pt>
                <c:pt idx="10">
                  <c:v>206</c:v>
                </c:pt>
                <c:pt idx="11">
                  <c:v>70</c:v>
                </c:pt>
                <c:pt idx="12">
                  <c:v>50</c:v>
                </c:pt>
                <c:pt idx="13">
                  <c:v>10</c:v>
                </c:pt>
                <c:pt idx="14">
                  <c:v>4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F-477D-908B-3A0CA7C5F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5325071"/>
        <c:axId val="1878230431"/>
      </c:barChart>
      <c:catAx>
        <c:axId val="188532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8230431"/>
        <c:crosses val="autoZero"/>
        <c:auto val="1"/>
        <c:lblAlgn val="ctr"/>
        <c:lblOffset val="100"/>
        <c:noMultiLvlLbl val="0"/>
      </c:catAx>
      <c:valAx>
        <c:axId val="187823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5325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299" cy="3505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31371" y="0"/>
            <a:ext cx="4002299" cy="3505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754AE-697F-42A9-9719-8DA05FCEF8D3}" type="datetimeFigureOut">
              <a:rPr lang="en-US" smtClean="0"/>
              <a:t>2/18/2020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258"/>
            <a:ext cx="4002299" cy="3505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31371" y="6658258"/>
            <a:ext cx="4002299" cy="3505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C7473-1509-4028-BC30-349E7D217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35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299" cy="352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1371" y="0"/>
            <a:ext cx="4002299" cy="352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7A983-4704-4D9A-98C7-187086649296}" type="datetimeFigureOut">
              <a:rPr lang="en-IN" smtClean="0"/>
              <a:t>18-02-2020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608" y="3373757"/>
            <a:ext cx="7388860" cy="276034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259"/>
            <a:ext cx="4002299" cy="3521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1371" y="6658259"/>
            <a:ext cx="4002299" cy="35214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718DD-4AAF-4D8A-BA7D-B91CCB27E3C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30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tif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jpeg"/><Relationship Id="rId7" Type="http://schemas.openxmlformats.org/officeDocument/2006/relationships/image" Target="../media/image20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29.jpe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0.e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8.png"/><Relationship Id="rId4" Type="http://schemas.openxmlformats.org/officeDocument/2006/relationships/image" Target="../media/image31.jpeg"/><Relationship Id="rId9" Type="http://schemas.openxmlformats.org/officeDocument/2006/relationships/image" Target="../media/image20.pn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72513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468090"/>
            <a:ext cx="4114800" cy="5334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Agenda</a:t>
            </a:r>
            <a:r>
              <a:rPr lang="ko-KR" altLang="en-US" sz="3200" dirty="0">
                <a:solidFill>
                  <a:schemeClr val="bg1"/>
                </a:solidFill>
              </a:rPr>
              <a:t> </a:t>
            </a:r>
            <a:r>
              <a:rPr lang="en-US" altLang="ko-KR" sz="3200" dirty="0">
                <a:solidFill>
                  <a:schemeClr val="bg1"/>
                </a:solidFill>
              </a:rPr>
              <a:t>opt 1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2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4" y="1828800"/>
            <a:ext cx="9067800" cy="43434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rPr>
              <a:t>Lorem ipsum dolor sit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rPr>
              <a:t>amet</a:t>
            </a:r>
            <a:r>
              <a:rPr lang="en-US" dirty="0"/>
              <a:t>						1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solidFill>
                <a:schemeClr val="bg1"/>
              </a:solidFill>
              <a:latin typeface="Georgia" charset="0"/>
              <a:ea typeface="Georgia" charset="0"/>
              <a:cs typeface="Georgi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72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468090"/>
            <a:ext cx="4114800" cy="5334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Agenda</a:t>
            </a:r>
            <a:r>
              <a:rPr lang="ko-KR" altLang="en-US" sz="3200" dirty="0">
                <a:solidFill>
                  <a:schemeClr val="bg1"/>
                </a:solidFill>
              </a:rPr>
              <a:t> </a:t>
            </a:r>
            <a:r>
              <a:rPr lang="en-US" altLang="ko-KR" sz="3200" dirty="0">
                <a:solidFill>
                  <a:schemeClr val="bg1"/>
                </a:solidFill>
              </a:rPr>
              <a:t>opt 1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2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4" y="1828800"/>
            <a:ext cx="9067800" cy="43434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					1</a:t>
            </a:r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86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29" name="Text Placeholder 28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468090"/>
            <a:ext cx="3276600" cy="6096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Agenda opt 3</a:t>
            </a:r>
            <a:endParaRPr lang="en-IN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4" y="1828800"/>
            <a:ext cx="10283434" cy="3429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6"/>
                </a:solidFill>
              </a:defRPr>
            </a:lvl1pPr>
            <a:lvl2pPr>
              <a:defRPr sz="1800">
                <a:solidFill>
                  <a:srgbClr val="07326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					1</a:t>
            </a:r>
          </a:p>
          <a:p>
            <a:pPr lvl="2"/>
            <a:endParaRPr lang="en-US" dirty="0"/>
          </a:p>
        </p:txBody>
      </p:sp>
      <p:sp>
        <p:nvSpPr>
          <p:cNvPr id="41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42" name="TextBox 41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592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" y="0"/>
            <a:ext cx="12188948" cy="6872512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2473184"/>
            <a:ext cx="6397625" cy="1600200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r>
              <a:rPr lang="en-US" sz="4800" dirty="0">
                <a:solidFill>
                  <a:schemeClr val="bg1"/>
                </a:solidFill>
              </a:rPr>
              <a:t>Divider slide options Lorem ipsum dolor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Subtitle, if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026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" y="0"/>
            <a:ext cx="12188946" cy="6872511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prstClr val="white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prstClr val="white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prstClr val="white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2473184"/>
            <a:ext cx="6397625" cy="1600200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r>
              <a:rPr lang="en-US" sz="4800" dirty="0">
                <a:solidFill>
                  <a:schemeClr val="bg1"/>
                </a:solidFill>
              </a:rPr>
              <a:t>Divider slide options</a:t>
            </a:r>
          </a:p>
          <a:p>
            <a:r>
              <a:rPr lang="en-US" sz="4800" dirty="0">
                <a:solidFill>
                  <a:schemeClr val="bg1"/>
                </a:solidFill>
              </a:rPr>
              <a:t>Lorem ipsum dolor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Subtitle, if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59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" y="0"/>
            <a:ext cx="12188946" cy="6872510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64594" y="2473184"/>
            <a:ext cx="6397625" cy="1600200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r>
              <a:rPr lang="en-US" sz="4800" dirty="0">
                <a:solidFill>
                  <a:schemeClr val="bg1"/>
                </a:solidFill>
              </a:rPr>
              <a:t>Divider slide options Lorem ipsum dolor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Subtitle, if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54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6"/>
          <a:stretch/>
        </p:blipFill>
        <p:spPr>
          <a:xfrm>
            <a:off x="6980347" y="0"/>
            <a:ext cx="5210123" cy="6872508"/>
          </a:xfrm>
          <a:prstGeom prst="rect">
            <a:avLst/>
          </a:prstGeom>
        </p:spPr>
      </p:pic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4593" y="4267200"/>
            <a:ext cx="6397625" cy="381000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rgbClr val="073262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Subtitle, if needed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74118" y="2531240"/>
            <a:ext cx="7086600" cy="1447800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073262"/>
                </a:solidFill>
              </a:defRPr>
            </a:lvl1pPr>
            <a:lvl2pPr>
              <a:defRPr sz="4800">
                <a:solidFill>
                  <a:schemeClr val="tx2"/>
                </a:solidFill>
              </a:defRPr>
            </a:lvl2pPr>
            <a:lvl3pPr>
              <a:defRPr sz="4800">
                <a:solidFill>
                  <a:schemeClr val="tx2"/>
                </a:solidFill>
              </a:defRPr>
            </a:lvl3pPr>
            <a:lvl4pPr>
              <a:defRPr sz="4800">
                <a:solidFill>
                  <a:schemeClr val="tx2"/>
                </a:solidFill>
              </a:defRPr>
            </a:lvl4pPr>
            <a:lvl5pPr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slide options</a:t>
            </a:r>
          </a:p>
          <a:p>
            <a:pPr lvl="0"/>
            <a:r>
              <a:rPr lang="en-US" dirty="0"/>
              <a:t>Lorem ipsum dolor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72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46944"/>
            <a:ext cx="11277600" cy="3892551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545F"/>
              </a:buClr>
              <a:buFont typeface="Wingdings" panose="05000000000000000000" pitchFamily="2" charset="2"/>
              <a:buChar char="§"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Clr>
                <a:srgbClr val="EA3946"/>
              </a:buClr>
              <a:buFont typeface="Arial" panose="020B0604020202020204" pitchFamily="34" charset="0"/>
              <a:buChar char="•"/>
              <a:defRPr sz="1600">
                <a:solidFill>
                  <a:srgbClr val="063161"/>
                </a:solidFill>
              </a:defRPr>
            </a:lvl2pPr>
            <a:lvl3pPr marL="1200150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Georgia" panose="02040502050405020303" pitchFamily="18" charset="0"/>
              <a:buChar char="─"/>
              <a:defRPr sz="1200">
                <a:solidFill>
                  <a:srgbClr val="063161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  <a:p>
            <a:pPr lvl="2"/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 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endParaRPr lang="en-US" dirty="0"/>
          </a:p>
          <a:p>
            <a:pPr lvl="0"/>
            <a:r>
              <a:rPr lang="en-US" dirty="0"/>
              <a:t>Qui </a:t>
            </a:r>
            <a:r>
              <a:rPr lang="en-US" dirty="0" err="1"/>
              <a:t>ratione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sequi</a:t>
            </a:r>
            <a:r>
              <a:rPr lang="en-US" dirty="0"/>
              <a:t> </a:t>
            </a:r>
            <a:r>
              <a:rPr lang="en-US" dirty="0" err="1"/>
              <a:t>nesciunt</a:t>
            </a:r>
            <a:r>
              <a:rPr lang="en-US" dirty="0"/>
              <a:t>.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porro</a:t>
            </a:r>
            <a:r>
              <a:rPr lang="en-US" dirty="0"/>
              <a:t>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, </a:t>
            </a:r>
            <a:r>
              <a:rPr lang="en-US" dirty="0" err="1"/>
              <a:t>adipisci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quia</a:t>
            </a:r>
            <a:r>
              <a:rPr lang="en-US" dirty="0"/>
              <a:t> non </a:t>
            </a:r>
            <a:r>
              <a:rPr lang="en-US" dirty="0" err="1"/>
              <a:t>numquam</a:t>
            </a:r>
            <a:r>
              <a:rPr lang="en-US" dirty="0"/>
              <a:t> </a:t>
            </a:r>
            <a:r>
              <a:rPr lang="en-US" dirty="0" err="1"/>
              <a:t>eius</a:t>
            </a:r>
            <a:r>
              <a:rPr lang="en-US" dirty="0"/>
              <a:t> </a:t>
            </a:r>
            <a:r>
              <a:rPr lang="en-US" dirty="0" err="1"/>
              <a:t>modi</a:t>
            </a:r>
            <a:r>
              <a:rPr lang="en-US" dirty="0"/>
              <a:t> </a:t>
            </a:r>
            <a:r>
              <a:rPr lang="en-US" dirty="0" err="1"/>
              <a:t>tempora</a:t>
            </a:r>
            <a:r>
              <a:rPr lang="en-US" dirty="0"/>
              <a:t> </a:t>
            </a:r>
            <a:r>
              <a:rPr lang="en-US" dirty="0" err="1"/>
              <a:t>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magnam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quaerat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.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33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Content slide title goes here</a:t>
            </a:r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288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5" orient="horz" pos="288" userDrawn="1">
          <p15:clr>
            <a:srgbClr val="FBAE40"/>
          </p15:clr>
        </p15:guide>
        <p15:guide id="6" orient="horz" pos="403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Content slide title goes here</a:t>
            </a:r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36801"/>
            <a:ext cx="5562600" cy="343535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1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03402"/>
            <a:ext cx="5562600" cy="457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6170406" y="2336801"/>
            <a:ext cx="5562600" cy="343535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6170406" y="1803402"/>
            <a:ext cx="5562600" cy="4572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5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rgbClr val="1F497D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rgbClr val="1F497D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Content slide title goes here</a:t>
            </a:r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489202"/>
            <a:ext cx="2592594" cy="36576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.</a:t>
            </a:r>
          </a:p>
        </p:txBody>
      </p:sp>
      <p:sp>
        <p:nvSpPr>
          <p:cNvPr id="1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03402"/>
            <a:ext cx="2592594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3351604" y="2489202"/>
            <a:ext cx="2592594" cy="36576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.</a:t>
            </a:r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3351604" y="1803402"/>
            <a:ext cx="2592594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6246008" y="2489202"/>
            <a:ext cx="2592594" cy="36576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.</a:t>
            </a:r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6246008" y="1803402"/>
            <a:ext cx="2592594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fr-FR" dirty="0" err="1"/>
              <a:t>Incididunt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magna </a:t>
            </a:r>
            <a:r>
              <a:rPr lang="fr-FR" dirty="0" err="1"/>
              <a:t>aliqua</a:t>
            </a:r>
            <a:endParaRPr lang="en-US" dirty="0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9140412" y="2491293"/>
            <a:ext cx="2592594" cy="36576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.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9140412" y="1805493"/>
            <a:ext cx="2592594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s-ES" dirty="0" err="1"/>
              <a:t>beatae</a:t>
            </a:r>
            <a:r>
              <a:rPr lang="es-ES" dirty="0"/>
              <a:t> vitae dicta </a:t>
            </a:r>
            <a:r>
              <a:rPr lang="es-ES" dirty="0" err="1"/>
              <a:t>sunt</a:t>
            </a:r>
            <a:r>
              <a:rPr lang="es-ES" dirty="0"/>
              <a:t> </a:t>
            </a:r>
            <a:r>
              <a:rPr lang="es-ES" dirty="0" err="1"/>
              <a:t>explicabo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8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 6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Content slide title goes here</a:t>
            </a:r>
          </a:p>
        </p:txBody>
      </p:sp>
      <p:sp>
        <p:nvSpPr>
          <p:cNvPr id="8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9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351315"/>
            <a:ext cx="3352800" cy="133032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1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17916"/>
            <a:ext cx="3352800" cy="381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418703" y="2351315"/>
            <a:ext cx="3352800" cy="133032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16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4418703" y="1817916"/>
            <a:ext cx="3352800" cy="381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8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8380206" y="2351315"/>
            <a:ext cx="3352800" cy="133032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21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8380206" y="1817916"/>
            <a:ext cx="3352800" cy="381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4520846"/>
            <a:ext cx="3352800" cy="133032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5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3987447"/>
            <a:ext cx="3352800" cy="381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4418703" y="4520846"/>
            <a:ext cx="3352800" cy="133032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4418703" y="3987447"/>
            <a:ext cx="3352800" cy="381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23" hasCustomPrompt="1"/>
          </p:nvPr>
        </p:nvSpPr>
        <p:spPr>
          <a:xfrm>
            <a:off x="8380206" y="4520846"/>
            <a:ext cx="3352800" cy="133032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ea.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24" hasCustomPrompt="1"/>
          </p:nvPr>
        </p:nvSpPr>
        <p:spPr>
          <a:xfrm>
            <a:off x="8380206" y="3987447"/>
            <a:ext cx="3352800" cy="381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2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54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/>
          <p:cNvSpPr>
            <a:spLocks noGrp="1"/>
          </p:cNvSpPr>
          <p:nvPr>
            <p:ph type="tbl" sz="quarter" idx="13"/>
          </p:nvPr>
        </p:nvSpPr>
        <p:spPr>
          <a:xfrm>
            <a:off x="460744" y="1828800"/>
            <a:ext cx="11272262" cy="34559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71715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rgbClr val="1F497D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rgbClr val="1F497D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94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65346"/>
            <a:ext cx="5482856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1026868"/>
            <a:ext cx="7540256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22752"/>
            <a:ext cx="6404344" cy="3429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7391400" y="4635802"/>
            <a:ext cx="4343400" cy="533400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05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Chart 1: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endParaRPr lang="en-US" dirty="0"/>
          </a:p>
        </p:txBody>
      </p:sp>
      <p:sp>
        <p:nvSpPr>
          <p:cNvPr id="38" name="Chart Placeholder 37"/>
          <p:cNvSpPr>
            <a:spLocks noGrp="1"/>
          </p:cNvSpPr>
          <p:nvPr>
            <p:ph type="chart" sz="quarter" idx="15"/>
          </p:nvPr>
        </p:nvSpPr>
        <p:spPr>
          <a:xfrm>
            <a:off x="7391400" y="1822752"/>
            <a:ext cx="4343400" cy="2691908"/>
          </a:xfrm>
          <a:prstGeom prst="rect">
            <a:avLst/>
          </a:prstGeom>
        </p:spPr>
        <p:txBody>
          <a:bodyPr/>
          <a:lstStyle>
            <a:lvl1pPr>
              <a:defRPr lang="en-IN" sz="1800" dirty="0">
                <a:solidFill>
                  <a:srgbClr val="06316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endParaRPr lang="en-IN" dirty="0"/>
          </a:p>
        </p:txBody>
      </p: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60357"/>
            <a:ext cx="56388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31857"/>
            <a:ext cx="80772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6629400" y="1831957"/>
            <a:ext cx="5105400" cy="5334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57200" y="1846471"/>
            <a:ext cx="6019800" cy="3962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6629400" y="2365357"/>
            <a:ext cx="5105400" cy="3429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83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60357"/>
            <a:ext cx="59436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31857"/>
            <a:ext cx="10435834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831957"/>
            <a:ext cx="5105400" cy="5334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715000" y="1831957"/>
            <a:ext cx="6019800" cy="3962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65357"/>
            <a:ext cx="5105400" cy="342900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  <a:lvl2pPr>
              <a:defRPr sz="1400">
                <a:solidFill>
                  <a:srgbClr val="073262"/>
                </a:solidFill>
              </a:defRPr>
            </a:lvl2pPr>
            <a:lvl3pPr>
              <a:defRPr sz="1200">
                <a:solidFill>
                  <a:srgbClr val="073262"/>
                </a:solidFill>
              </a:defRPr>
            </a:lvl3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,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quae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</a:t>
            </a:r>
            <a:r>
              <a:rPr lang="en-US" dirty="0" err="1"/>
              <a:t>beatae</a:t>
            </a:r>
            <a:r>
              <a:rPr lang="en-US" dirty="0"/>
              <a:t> vitae dicta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explicabo</a:t>
            </a:r>
            <a:r>
              <a:rPr lang="en-US" dirty="0"/>
              <a:t>.</a:t>
            </a:r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6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60357"/>
            <a:ext cx="62484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31857"/>
            <a:ext cx="92964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029980"/>
            <a:ext cx="3505200" cy="53455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4594" y="1827647"/>
            <a:ext cx="3497806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564533"/>
            <a:ext cx="3505200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1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8227806" y="4029980"/>
            <a:ext cx="3505200" cy="53455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8235200" y="1827647"/>
            <a:ext cx="3497806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8227806" y="4564533"/>
            <a:ext cx="3505200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331412" y="4029980"/>
            <a:ext cx="3505200" cy="53455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4338806" y="1827647"/>
            <a:ext cx="3497806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4331412" y="4564533"/>
            <a:ext cx="3505200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9645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460357"/>
            <a:ext cx="5480873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31857"/>
            <a:ext cx="10134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392964" y="4101060"/>
            <a:ext cx="2709930" cy="389620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64594" y="1827647"/>
            <a:ext cx="2576012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498147"/>
            <a:ext cx="2581458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1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6181498" y="4101060"/>
            <a:ext cx="2732072" cy="389620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6259528" y="1827647"/>
            <a:ext cx="2576012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6259528" y="4498147"/>
            <a:ext cx="2581458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3291939" y="4101060"/>
            <a:ext cx="2729860" cy="389620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3362061" y="1827647"/>
            <a:ext cx="2576012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3366140" y="4498147"/>
            <a:ext cx="2581458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16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9073269" y="4101060"/>
            <a:ext cx="2737600" cy="389620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156994" y="1827647"/>
            <a:ext cx="2576012" cy="20585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24" hasCustomPrompt="1"/>
          </p:nvPr>
        </p:nvSpPr>
        <p:spPr>
          <a:xfrm>
            <a:off x="9149600" y="4498147"/>
            <a:ext cx="2581458" cy="1749124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46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74119" y="4641562"/>
            <a:ext cx="2045424" cy="1481275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exercitation.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474119" y="3924011"/>
            <a:ext cx="2045424" cy="359637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800" baseline="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474118" y="1844297"/>
            <a:ext cx="2045425" cy="195436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2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TextBox 62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65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460357"/>
            <a:ext cx="5525805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66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31857"/>
            <a:ext cx="81534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7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474119" y="4344555"/>
            <a:ext cx="2045424" cy="29700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68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2777484" y="1844297"/>
            <a:ext cx="2045425" cy="195436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9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5080850" y="1844297"/>
            <a:ext cx="2045425" cy="195436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70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7384216" y="1844297"/>
            <a:ext cx="2045425" cy="195436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71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9687581" y="1844297"/>
            <a:ext cx="2045425" cy="195436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72" name="Text Placeholder 22"/>
          <p:cNvSpPr>
            <a:spLocks noGrp="1"/>
          </p:cNvSpPr>
          <p:nvPr>
            <p:ph type="body" sz="quarter" idx="26" hasCustomPrompt="1"/>
          </p:nvPr>
        </p:nvSpPr>
        <p:spPr>
          <a:xfrm>
            <a:off x="2777485" y="4641562"/>
            <a:ext cx="2045424" cy="1481275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exercitation.</a:t>
            </a:r>
          </a:p>
        </p:txBody>
      </p:sp>
      <p:sp>
        <p:nvSpPr>
          <p:cNvPr id="73" name="Text Placeholder 22"/>
          <p:cNvSpPr>
            <a:spLocks noGrp="1"/>
          </p:cNvSpPr>
          <p:nvPr>
            <p:ph type="body" sz="quarter" idx="27" hasCustomPrompt="1"/>
          </p:nvPr>
        </p:nvSpPr>
        <p:spPr>
          <a:xfrm>
            <a:off x="2777485" y="3924011"/>
            <a:ext cx="2045424" cy="359637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800" baseline="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74" name="Text Placeholder 22"/>
          <p:cNvSpPr>
            <a:spLocks noGrp="1"/>
          </p:cNvSpPr>
          <p:nvPr>
            <p:ph type="body" sz="quarter" idx="28" hasCustomPrompt="1"/>
          </p:nvPr>
        </p:nvSpPr>
        <p:spPr>
          <a:xfrm>
            <a:off x="2777485" y="4344555"/>
            <a:ext cx="2045424" cy="29700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75" name="Text Placeholder 22"/>
          <p:cNvSpPr>
            <a:spLocks noGrp="1"/>
          </p:cNvSpPr>
          <p:nvPr>
            <p:ph type="body" sz="quarter" idx="29" hasCustomPrompt="1"/>
          </p:nvPr>
        </p:nvSpPr>
        <p:spPr>
          <a:xfrm>
            <a:off x="5080851" y="4641562"/>
            <a:ext cx="2045424" cy="1481275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exercitation.</a:t>
            </a:r>
          </a:p>
        </p:txBody>
      </p:sp>
      <p:sp>
        <p:nvSpPr>
          <p:cNvPr id="76" name="Text Placeholder 22"/>
          <p:cNvSpPr>
            <a:spLocks noGrp="1"/>
          </p:cNvSpPr>
          <p:nvPr>
            <p:ph type="body" sz="quarter" idx="30" hasCustomPrompt="1"/>
          </p:nvPr>
        </p:nvSpPr>
        <p:spPr>
          <a:xfrm>
            <a:off x="5080851" y="3924011"/>
            <a:ext cx="2045424" cy="359637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800" baseline="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77" name="Text Placeholder 22"/>
          <p:cNvSpPr>
            <a:spLocks noGrp="1"/>
          </p:cNvSpPr>
          <p:nvPr>
            <p:ph type="body" sz="quarter" idx="31" hasCustomPrompt="1"/>
          </p:nvPr>
        </p:nvSpPr>
        <p:spPr>
          <a:xfrm>
            <a:off x="5080851" y="4344555"/>
            <a:ext cx="2045424" cy="29700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78" name="Text Placeholder 22"/>
          <p:cNvSpPr>
            <a:spLocks noGrp="1"/>
          </p:cNvSpPr>
          <p:nvPr>
            <p:ph type="body" sz="quarter" idx="32" hasCustomPrompt="1"/>
          </p:nvPr>
        </p:nvSpPr>
        <p:spPr>
          <a:xfrm>
            <a:off x="7384216" y="4641562"/>
            <a:ext cx="2045424" cy="1481275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exercitation.</a:t>
            </a:r>
          </a:p>
        </p:txBody>
      </p:sp>
      <p:sp>
        <p:nvSpPr>
          <p:cNvPr id="79" name="Text Placeholder 22"/>
          <p:cNvSpPr>
            <a:spLocks noGrp="1"/>
          </p:cNvSpPr>
          <p:nvPr>
            <p:ph type="body" sz="quarter" idx="33" hasCustomPrompt="1"/>
          </p:nvPr>
        </p:nvSpPr>
        <p:spPr>
          <a:xfrm>
            <a:off x="7384216" y="3924011"/>
            <a:ext cx="2045424" cy="359637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800" baseline="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80" name="Text Placeholder 22"/>
          <p:cNvSpPr>
            <a:spLocks noGrp="1"/>
          </p:cNvSpPr>
          <p:nvPr>
            <p:ph type="body" sz="quarter" idx="34" hasCustomPrompt="1"/>
          </p:nvPr>
        </p:nvSpPr>
        <p:spPr>
          <a:xfrm>
            <a:off x="7384216" y="4344555"/>
            <a:ext cx="2045424" cy="29700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81" name="Text Placeholder 22"/>
          <p:cNvSpPr>
            <a:spLocks noGrp="1"/>
          </p:cNvSpPr>
          <p:nvPr>
            <p:ph type="body" sz="quarter" idx="35" hasCustomPrompt="1"/>
          </p:nvPr>
        </p:nvSpPr>
        <p:spPr>
          <a:xfrm>
            <a:off x="9687582" y="4641562"/>
            <a:ext cx="2045424" cy="1481275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exercitation.</a:t>
            </a:r>
          </a:p>
        </p:txBody>
      </p:sp>
      <p:sp>
        <p:nvSpPr>
          <p:cNvPr id="82" name="Text Placeholder 22"/>
          <p:cNvSpPr>
            <a:spLocks noGrp="1"/>
          </p:cNvSpPr>
          <p:nvPr>
            <p:ph type="body" sz="quarter" idx="36" hasCustomPrompt="1"/>
          </p:nvPr>
        </p:nvSpPr>
        <p:spPr>
          <a:xfrm>
            <a:off x="9687582" y="3924011"/>
            <a:ext cx="2045424" cy="359637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800" baseline="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First last name</a:t>
            </a:r>
          </a:p>
        </p:txBody>
      </p:sp>
      <p:sp>
        <p:nvSpPr>
          <p:cNvPr id="83" name="Text Placeholder 22"/>
          <p:cNvSpPr>
            <a:spLocks noGrp="1"/>
          </p:cNvSpPr>
          <p:nvPr>
            <p:ph type="body" sz="quarter" idx="37" hasCustomPrompt="1"/>
          </p:nvPr>
        </p:nvSpPr>
        <p:spPr>
          <a:xfrm>
            <a:off x="9687582" y="4344555"/>
            <a:ext cx="2045424" cy="29700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132213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f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9310" y="3417088"/>
            <a:ext cx="1922906" cy="14293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72000" y="2729998"/>
            <a:ext cx="801213" cy="1660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0800000">
            <a:off x="6818787" y="2729998"/>
            <a:ext cx="801213" cy="166096"/>
          </a:xfrm>
          <a:prstGeom prst="rect">
            <a:avLst/>
          </a:prstGeom>
        </p:spPr>
      </p:pic>
      <p:sp>
        <p:nvSpPr>
          <p:cNvPr id="20" name="Picture Placeholder 4"/>
          <p:cNvSpPr>
            <a:spLocks noGrp="1"/>
          </p:cNvSpPr>
          <p:nvPr userDrawn="1">
            <p:ph type="pic" sz="quarter" idx="17"/>
          </p:nvPr>
        </p:nvSpPr>
        <p:spPr>
          <a:xfrm>
            <a:off x="5595938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856809" y="3511549"/>
            <a:ext cx="8487908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qui.</a:t>
            </a:r>
          </a:p>
        </p:txBody>
      </p:sp>
      <p:sp>
        <p:nvSpPr>
          <p:cNvPr id="26" name="Text Placeholder 22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30370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Text Placeholder 22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630370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45" name="Text Placeholder 2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460357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46" name="Text Placeholder 2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57200" y="1022785"/>
            <a:ext cx="9372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41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f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69124" y="3417088"/>
            <a:ext cx="1922906" cy="14293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028" y="3417088"/>
            <a:ext cx="1922906" cy="14293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44677" y="2729998"/>
            <a:ext cx="801213" cy="1660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0800000">
            <a:off x="6715264" y="2729998"/>
            <a:ext cx="801213" cy="1660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 userDrawn="1">
            <p:ph type="pic" sz="quarter" idx="13"/>
          </p:nvPr>
        </p:nvSpPr>
        <p:spPr>
          <a:xfrm>
            <a:off x="1949081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4" name="Text Placeholder 2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83513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68006" y="2729998"/>
            <a:ext cx="801213" cy="1660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0800000">
            <a:off x="3138593" y="2729998"/>
            <a:ext cx="801213" cy="166096"/>
          </a:xfrm>
          <a:prstGeom prst="rect">
            <a:avLst/>
          </a:prstGeom>
        </p:spPr>
      </p:pic>
      <p:sp>
        <p:nvSpPr>
          <p:cNvPr id="37" name="Text Placeholder 2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83513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6" name="Text Placeholder 22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83513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sz="quarter" idx="17"/>
          </p:nvPr>
        </p:nvSpPr>
        <p:spPr>
          <a:xfrm>
            <a:off x="5525752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60184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sp>
        <p:nvSpPr>
          <p:cNvPr id="26" name="Text Placeholder 22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60184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Text Placeholder 22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60184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33" name="Picture Placeholder 4"/>
          <p:cNvSpPr>
            <a:spLocks noGrp="1"/>
          </p:cNvSpPr>
          <p:nvPr userDrawn="1">
            <p:ph type="pic" sz="quarter" idx="21"/>
          </p:nvPr>
        </p:nvSpPr>
        <p:spPr>
          <a:xfrm>
            <a:off x="9106148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125073" y="2729998"/>
            <a:ext cx="801213" cy="16609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0800000">
            <a:off x="10295660" y="2729998"/>
            <a:ext cx="801213" cy="166096"/>
          </a:xfrm>
          <a:prstGeom prst="rect">
            <a:avLst/>
          </a:prstGeom>
        </p:spPr>
      </p:pic>
      <p:sp>
        <p:nvSpPr>
          <p:cNvPr id="41" name="Text Placeholder 22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40580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42" name="Text Placeholder 22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140580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45" name="Text Placeholder 2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460357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46" name="Text Placeholder 2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57200" y="1022785"/>
            <a:ext cx="9372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9520" y="3417088"/>
            <a:ext cx="1922906" cy="1429333"/>
          </a:xfrm>
          <a:prstGeom prst="rect">
            <a:avLst/>
          </a:prstGeom>
        </p:spPr>
      </p:pic>
      <p:sp>
        <p:nvSpPr>
          <p:cNvPr id="38" name="Text Placeholder 22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40580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accent3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sp>
        <p:nvSpPr>
          <p:cNvPr id="28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21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for 1 with Background Colo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" y="1"/>
            <a:ext cx="12201524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60357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22785"/>
            <a:ext cx="9372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595938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09626" y="3429494"/>
            <a:ext cx="2182275" cy="1616933"/>
          </a:xfrm>
          <a:prstGeom prst="rect">
            <a:avLst/>
          </a:prstGeom>
        </p:spPr>
      </p:pic>
      <p:sp>
        <p:nvSpPr>
          <p:cNvPr id="24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1882814" y="3511549"/>
            <a:ext cx="8435899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0" y="2729998"/>
            <a:ext cx="801213" cy="1660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6818787" y="2729998"/>
            <a:ext cx="801213" cy="166096"/>
          </a:xfrm>
          <a:prstGeom prst="rect">
            <a:avLst/>
          </a:prstGeom>
        </p:spPr>
      </p:pic>
      <p:sp>
        <p:nvSpPr>
          <p:cNvPr id="3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1882814" y="5387139"/>
            <a:ext cx="8435899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1882814" y="5086350"/>
            <a:ext cx="8435899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20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866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for 1 with Background Colo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4547" y="3356228"/>
            <a:ext cx="1922906" cy="1429333"/>
          </a:xfrm>
          <a:prstGeom prst="rect">
            <a:avLst/>
          </a:prstGeom>
        </p:spPr>
      </p:pic>
      <p:sp>
        <p:nvSpPr>
          <p:cNvPr id="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60357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22785"/>
            <a:ext cx="9372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591175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1878051" y="3511549"/>
            <a:ext cx="8435899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qui.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1878051" y="5387139"/>
            <a:ext cx="8435899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1878051" y="5086350"/>
            <a:ext cx="8435899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20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2000" y="2729998"/>
            <a:ext cx="801213" cy="16609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6818787" y="2729998"/>
            <a:ext cx="801213" cy="166096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88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for 3 with Background Colo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" y="1"/>
            <a:ext cx="12201524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4544677" y="2729998"/>
            <a:ext cx="2971800" cy="2316429"/>
            <a:chOff x="4234880" y="2729998"/>
            <a:chExt cx="2971800" cy="2316429"/>
          </a:xfrm>
        </p:grpSpPr>
        <p:pic>
          <p:nvPicPr>
            <p:cNvPr id="21" name="Picture 20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629641" y="3429494"/>
              <a:ext cx="2182275" cy="1616933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4234880" y="2729998"/>
              <a:ext cx="801213" cy="166096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0800000">
              <a:off x="6405467" y="2729998"/>
              <a:ext cx="801213" cy="166096"/>
            </a:xfrm>
            <a:prstGeom prst="rect">
              <a:avLst/>
            </a:prstGeom>
          </p:spPr>
        </p:pic>
      </p:grp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1949081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62767" y="3429494"/>
            <a:ext cx="2182275" cy="1616933"/>
          </a:xfrm>
          <a:prstGeom prst="rect">
            <a:avLst/>
          </a:prstGeom>
        </p:spPr>
      </p:pic>
      <p:sp>
        <p:nvSpPr>
          <p:cNvPr id="24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983513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8006" y="2729998"/>
            <a:ext cx="801213" cy="1660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3138593" y="2729998"/>
            <a:ext cx="801213" cy="166096"/>
          </a:xfrm>
          <a:prstGeom prst="rect">
            <a:avLst/>
          </a:prstGeom>
        </p:spPr>
      </p:pic>
      <p:sp>
        <p:nvSpPr>
          <p:cNvPr id="37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983513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983513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5525752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4560184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4560184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4560184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33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9106148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19834" y="3429494"/>
            <a:ext cx="2182275" cy="1616933"/>
          </a:xfrm>
          <a:prstGeom prst="rect">
            <a:avLst/>
          </a:prstGeom>
        </p:spPr>
      </p:pic>
      <p:sp>
        <p:nvSpPr>
          <p:cNvPr id="38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8140580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5073" y="2729998"/>
            <a:ext cx="801213" cy="16609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0295660" y="2729998"/>
            <a:ext cx="801213" cy="166096"/>
          </a:xfrm>
          <a:prstGeom prst="rect">
            <a:avLst/>
          </a:prstGeom>
        </p:spPr>
      </p:pic>
      <p:sp>
        <p:nvSpPr>
          <p:cNvPr id="41" name="Text Placeholder 22"/>
          <p:cNvSpPr>
            <a:spLocks noGrp="1"/>
          </p:cNvSpPr>
          <p:nvPr>
            <p:ph type="body" sz="quarter" idx="23" hasCustomPrompt="1"/>
          </p:nvPr>
        </p:nvSpPr>
        <p:spPr>
          <a:xfrm>
            <a:off x="8140580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24" hasCustomPrompt="1"/>
          </p:nvPr>
        </p:nvSpPr>
        <p:spPr>
          <a:xfrm>
            <a:off x="8140580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60357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46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22785"/>
            <a:ext cx="9372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31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7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 for 3 with Background Colo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72646" y="3356228"/>
            <a:ext cx="1922906" cy="142933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44677" y="2729998"/>
            <a:ext cx="801213" cy="1660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6715264" y="2729998"/>
            <a:ext cx="801213" cy="1660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 userDrawn="1">
            <p:ph type="pic" sz="quarter" idx="13"/>
          </p:nvPr>
        </p:nvSpPr>
        <p:spPr>
          <a:xfrm>
            <a:off x="1949081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8006" y="2729998"/>
            <a:ext cx="801213" cy="166096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3138593" y="2729998"/>
            <a:ext cx="801213" cy="166096"/>
          </a:xfrm>
          <a:prstGeom prst="rect">
            <a:avLst/>
          </a:prstGeom>
        </p:spPr>
      </p:pic>
      <p:sp>
        <p:nvSpPr>
          <p:cNvPr id="37" name="Text Placeholder 2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83513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6" name="Text Placeholder 22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83513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sz="quarter" idx="17"/>
          </p:nvPr>
        </p:nvSpPr>
        <p:spPr>
          <a:xfrm>
            <a:off x="5525752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22" name="Text Placeholder 2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60184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sp>
        <p:nvSpPr>
          <p:cNvPr id="26" name="Text Placeholder 22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60184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27" name="Text Placeholder 22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560184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33" name="Picture Placeholder 4"/>
          <p:cNvSpPr>
            <a:spLocks noGrp="1"/>
          </p:cNvSpPr>
          <p:nvPr userDrawn="1">
            <p:ph type="pic" sz="quarter" idx="21"/>
          </p:nvPr>
        </p:nvSpPr>
        <p:spPr>
          <a:xfrm>
            <a:off x="9106148" y="2308225"/>
            <a:ext cx="1009650" cy="1009650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IN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5073" y="2729998"/>
            <a:ext cx="801213" cy="16609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10295660" y="2729998"/>
            <a:ext cx="801213" cy="166096"/>
          </a:xfrm>
          <a:prstGeom prst="rect">
            <a:avLst/>
          </a:prstGeom>
        </p:spPr>
      </p:pic>
      <p:sp>
        <p:nvSpPr>
          <p:cNvPr id="41" name="Text Placeholder 22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40580" y="5387139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42" name="Text Placeholder 22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140580" y="5086350"/>
            <a:ext cx="2940786" cy="324343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800" spc="6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Name of person</a:t>
            </a:r>
          </a:p>
        </p:txBody>
      </p:sp>
      <p:sp>
        <p:nvSpPr>
          <p:cNvPr id="45" name="Text Placeholder 2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7200" y="460357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46" name="Text Placeholder 2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57200" y="1022785"/>
            <a:ext cx="93726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49520" y="3356228"/>
            <a:ext cx="1922906" cy="1429333"/>
          </a:xfrm>
          <a:prstGeom prst="rect">
            <a:avLst/>
          </a:prstGeom>
        </p:spPr>
      </p:pic>
      <p:sp>
        <p:nvSpPr>
          <p:cNvPr id="38" name="Text Placeholder 22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40580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92453" y="3356228"/>
            <a:ext cx="1922906" cy="1429333"/>
          </a:xfrm>
          <a:prstGeom prst="rect">
            <a:avLst/>
          </a:prstGeom>
        </p:spPr>
      </p:pic>
      <p:sp>
        <p:nvSpPr>
          <p:cNvPr id="24" name="Text Placeholder 2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83513" y="3511549"/>
            <a:ext cx="2940786" cy="1289051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</a:t>
            </a:r>
          </a:p>
        </p:txBody>
      </p:sp>
      <p:sp>
        <p:nvSpPr>
          <p:cNvPr id="28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4375" y="6446360"/>
            <a:ext cx="868156" cy="3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42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1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5994400" y="2362200"/>
            <a:ext cx="5738606" cy="37757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60744" y="2362200"/>
            <a:ext cx="5533657" cy="377570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0" name="Triangle 3"/>
          <p:cNvSpPr/>
          <p:nvPr userDrawn="1"/>
        </p:nvSpPr>
        <p:spPr>
          <a:xfrm rot="5400000">
            <a:off x="4310417" y="4039485"/>
            <a:ext cx="3816697" cy="448733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60744" y="1967993"/>
            <a:ext cx="5533656" cy="244578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FROM</a:t>
            </a:r>
          </a:p>
        </p:txBody>
      </p:sp>
      <p:sp>
        <p:nvSpPr>
          <p:cNvPr id="21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400" y="1967993"/>
            <a:ext cx="5738606" cy="244578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TO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48977" y="2816051"/>
            <a:ext cx="4419600" cy="2895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6781800" y="2816051"/>
            <a:ext cx="4419600" cy="2895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</a:t>
            </a:r>
          </a:p>
        </p:txBody>
      </p:sp>
    </p:spTree>
    <p:extLst>
      <p:ext uri="{BB962C8B-B14F-4D97-AF65-F5344CB8AC3E}">
        <p14:creationId xmlns:p14="http://schemas.microsoft.com/office/powerpoint/2010/main" val="37484189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1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5994400" y="2362200"/>
            <a:ext cx="5738606" cy="377570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60744" y="2362200"/>
            <a:ext cx="5533657" cy="3775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0" name="Triangle 3"/>
          <p:cNvSpPr/>
          <p:nvPr userDrawn="1"/>
        </p:nvSpPr>
        <p:spPr>
          <a:xfrm rot="5400000">
            <a:off x="4310417" y="4039485"/>
            <a:ext cx="3816697" cy="44873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60744" y="1967993"/>
            <a:ext cx="5533656" cy="244578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FROM</a:t>
            </a:r>
          </a:p>
        </p:txBody>
      </p:sp>
      <p:sp>
        <p:nvSpPr>
          <p:cNvPr id="21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400" y="1967993"/>
            <a:ext cx="5738606" cy="244578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TO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48977" y="2816051"/>
            <a:ext cx="4419600" cy="2895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6781800" y="2816051"/>
            <a:ext cx="4419600" cy="2895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provident.</a:t>
            </a:r>
          </a:p>
        </p:txBody>
      </p:sp>
    </p:spTree>
    <p:extLst>
      <p:ext uri="{BB962C8B-B14F-4D97-AF65-F5344CB8AC3E}">
        <p14:creationId xmlns:p14="http://schemas.microsoft.com/office/powerpoint/2010/main" val="40220959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3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5994400" y="2362200"/>
            <a:ext cx="5738606" cy="12336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460744" y="2362200"/>
            <a:ext cx="5533657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0" name="Triangle 3"/>
          <p:cNvSpPr/>
          <p:nvPr userDrawn="1"/>
        </p:nvSpPr>
        <p:spPr>
          <a:xfrm rot="5400000">
            <a:off x="5595250" y="2754653"/>
            <a:ext cx="1247033" cy="44873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5994400" y="3644294"/>
            <a:ext cx="5738606" cy="12336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60744" y="3644294"/>
            <a:ext cx="5533657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5994400" y="4925949"/>
            <a:ext cx="5738606" cy="1233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60744" y="1967993"/>
            <a:ext cx="5533656" cy="244578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FROM</a:t>
            </a:r>
          </a:p>
        </p:txBody>
      </p:sp>
      <p:sp>
        <p:nvSpPr>
          <p:cNvPr id="21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400" y="1967993"/>
            <a:ext cx="5738606" cy="244578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TO</a:t>
            </a:r>
          </a:p>
        </p:txBody>
      </p:sp>
      <p:sp>
        <p:nvSpPr>
          <p:cNvPr id="22" name="Triangle 3"/>
          <p:cNvSpPr/>
          <p:nvPr userDrawn="1"/>
        </p:nvSpPr>
        <p:spPr>
          <a:xfrm rot="5400000">
            <a:off x="5595250" y="4045254"/>
            <a:ext cx="1247033" cy="44873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riangle 3"/>
          <p:cNvSpPr/>
          <p:nvPr userDrawn="1"/>
        </p:nvSpPr>
        <p:spPr>
          <a:xfrm rot="5400000">
            <a:off x="5595250" y="5318402"/>
            <a:ext cx="1247033" cy="448733"/>
          </a:xfrm>
          <a:prstGeom prst="triangle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781800" y="2674219"/>
            <a:ext cx="4419600" cy="609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6781800" y="3953834"/>
            <a:ext cx="4419600" cy="609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781800" y="5237968"/>
            <a:ext cx="4419600" cy="609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1" hasCustomPrompt="1"/>
          </p:nvPr>
        </p:nvSpPr>
        <p:spPr>
          <a:xfrm>
            <a:off x="801872" y="2674219"/>
            <a:ext cx="5029200" cy="609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063161"/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2" name="Rectangle 31"/>
          <p:cNvSpPr/>
          <p:nvPr userDrawn="1"/>
        </p:nvSpPr>
        <p:spPr>
          <a:xfrm>
            <a:off x="460744" y="4925949"/>
            <a:ext cx="5533657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73261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3" name="Text Placeholder 30"/>
          <p:cNvSpPr>
            <a:spLocks noGrp="1"/>
          </p:cNvSpPr>
          <p:nvPr>
            <p:ph type="body" sz="quarter" idx="22" hasCustomPrompt="1"/>
          </p:nvPr>
        </p:nvSpPr>
        <p:spPr>
          <a:xfrm>
            <a:off x="801872" y="3951528"/>
            <a:ext cx="5029200" cy="609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063161"/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23" hasCustomPrompt="1"/>
          </p:nvPr>
        </p:nvSpPr>
        <p:spPr>
          <a:xfrm>
            <a:off x="801872" y="5237968"/>
            <a:ext cx="5029200" cy="6096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063161"/>
                </a:solidFill>
              </a:defRPr>
            </a:lvl1pPr>
            <a:lvl2pPr>
              <a:defRPr>
                <a:solidFill>
                  <a:srgbClr val="063161"/>
                </a:solidFill>
              </a:defRPr>
            </a:lvl2pPr>
            <a:lvl3pPr>
              <a:defRPr>
                <a:solidFill>
                  <a:srgbClr val="063161"/>
                </a:solidFill>
              </a:defRPr>
            </a:lvl3pPr>
            <a:lvl4pPr>
              <a:defRPr>
                <a:solidFill>
                  <a:srgbClr val="063161"/>
                </a:solidFill>
              </a:defRPr>
            </a:lvl4pPr>
            <a:lvl5pPr>
              <a:defRPr>
                <a:solidFill>
                  <a:srgbClr val="06316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0604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3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>
          <a:xfrm>
            <a:off x="4097868" y="1928160"/>
            <a:ext cx="7635138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Parallelogram 24"/>
          <p:cNvSpPr/>
          <p:nvPr userDrawn="1"/>
        </p:nvSpPr>
        <p:spPr>
          <a:xfrm>
            <a:off x="3617383" y="1928160"/>
            <a:ext cx="960968" cy="1233639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066800" y="1928160"/>
            <a:ext cx="3031067" cy="1233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457201" y="1928160"/>
            <a:ext cx="609599" cy="1233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097868" y="3356039"/>
            <a:ext cx="7635138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Parallelogram 28"/>
          <p:cNvSpPr/>
          <p:nvPr userDrawn="1"/>
        </p:nvSpPr>
        <p:spPr>
          <a:xfrm>
            <a:off x="3617383" y="3356039"/>
            <a:ext cx="960968" cy="1233639"/>
          </a:xfrm>
          <a:prstGeom prst="parallelogram">
            <a:avLst>
              <a:gd name="adj" fmla="val 4909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1066800" y="3356039"/>
            <a:ext cx="3031067" cy="12336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1" name="Rectangle 30"/>
          <p:cNvSpPr/>
          <p:nvPr userDrawn="1"/>
        </p:nvSpPr>
        <p:spPr>
          <a:xfrm>
            <a:off x="457201" y="3356039"/>
            <a:ext cx="609599" cy="123363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Rectangle 31"/>
          <p:cNvSpPr/>
          <p:nvPr userDrawn="1"/>
        </p:nvSpPr>
        <p:spPr>
          <a:xfrm>
            <a:off x="4097868" y="4783918"/>
            <a:ext cx="7635138" cy="1233639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Parallelogram 32"/>
          <p:cNvSpPr/>
          <p:nvPr userDrawn="1"/>
        </p:nvSpPr>
        <p:spPr>
          <a:xfrm>
            <a:off x="3617383" y="4783918"/>
            <a:ext cx="960968" cy="1233639"/>
          </a:xfrm>
          <a:prstGeom prst="parallelogram">
            <a:avLst>
              <a:gd name="adj" fmla="val 4909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1066800" y="4783918"/>
            <a:ext cx="3031067" cy="12336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457201" y="4783918"/>
            <a:ext cx="609599" cy="12336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56784"/>
            <a:ext cx="619763" cy="57144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691632"/>
            <a:ext cx="609599" cy="569421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N" dirty="0"/>
          </a:p>
        </p:txBody>
      </p:sp>
      <p:sp>
        <p:nvSpPr>
          <p:cNvPr id="3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901745"/>
            <a:ext cx="609599" cy="90501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ts val="648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N" dirty="0"/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219200" y="2256783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3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1219200" y="3684662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4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219200" y="5112541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41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796526" y="2256783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endParaRPr lang="en-US" dirty="0"/>
          </a:p>
        </p:txBody>
      </p:sp>
      <p:sp>
        <p:nvSpPr>
          <p:cNvPr id="4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4796526" y="3684662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endParaRPr lang="en-US" dirty="0"/>
          </a:p>
        </p:txBody>
      </p:sp>
      <p:sp>
        <p:nvSpPr>
          <p:cNvPr id="4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796526" y="5117829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5566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3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" y="1945849"/>
            <a:ext cx="11275806" cy="57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noFill/>
              </a:ln>
            </a:endParaRPr>
          </a:p>
        </p:txBody>
      </p:sp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28" name="Rectangle 27"/>
          <p:cNvSpPr/>
          <p:nvPr userDrawn="1"/>
        </p:nvSpPr>
        <p:spPr>
          <a:xfrm>
            <a:off x="457199" y="2559541"/>
            <a:ext cx="3522121" cy="34861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Parallelogram 28"/>
          <p:cNvSpPr/>
          <p:nvPr userDrawn="1"/>
        </p:nvSpPr>
        <p:spPr>
          <a:xfrm>
            <a:off x="3174109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464595" y="2559542"/>
            <a:ext cx="3095876" cy="8004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54" name="Text Placeholder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57200" y="1945849"/>
            <a:ext cx="11275806" cy="57144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endParaRPr lang="en-IN" dirty="0"/>
          </a:p>
        </p:txBody>
      </p:sp>
      <p:sp>
        <p:nvSpPr>
          <p:cNvPr id="55" name="Text Placeholder 5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09600" y="2671575"/>
            <a:ext cx="3192469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6" name="Text Placeholder 5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9600" y="3473181"/>
            <a:ext cx="3192469" cy="2572510"/>
          </a:xfrm>
          <a:prstGeom prst="rect">
            <a:avLst/>
          </a:prstGeom>
        </p:spPr>
        <p:txBody>
          <a:bodyPr anchor="t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endParaRPr lang="en-US" dirty="0"/>
          </a:p>
        </p:txBody>
      </p:sp>
      <p:sp>
        <p:nvSpPr>
          <p:cNvPr id="79" name="Rectangle 78"/>
          <p:cNvSpPr/>
          <p:nvPr userDrawn="1"/>
        </p:nvSpPr>
        <p:spPr>
          <a:xfrm>
            <a:off x="8210884" y="2559541"/>
            <a:ext cx="3522122" cy="34861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0" name="Parallelogram 79"/>
          <p:cNvSpPr/>
          <p:nvPr userDrawn="1"/>
        </p:nvSpPr>
        <p:spPr>
          <a:xfrm>
            <a:off x="10927794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ectangle 80"/>
          <p:cNvSpPr/>
          <p:nvPr userDrawn="1"/>
        </p:nvSpPr>
        <p:spPr>
          <a:xfrm>
            <a:off x="8218280" y="2559542"/>
            <a:ext cx="3095876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82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8363285" y="2671575"/>
            <a:ext cx="3192469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83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8363285" y="3473181"/>
            <a:ext cx="3192469" cy="2572510"/>
          </a:xfrm>
          <a:prstGeom prst="rect">
            <a:avLst/>
          </a:prstGeom>
        </p:spPr>
        <p:txBody>
          <a:bodyPr anchor="t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endParaRPr lang="en-US" dirty="0"/>
          </a:p>
        </p:txBody>
      </p:sp>
      <p:sp>
        <p:nvSpPr>
          <p:cNvPr id="84" name="Rectangle 83"/>
          <p:cNvSpPr/>
          <p:nvPr userDrawn="1"/>
        </p:nvSpPr>
        <p:spPr>
          <a:xfrm>
            <a:off x="4334041" y="2559541"/>
            <a:ext cx="3522122" cy="348615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5" name="Parallelogram 84"/>
          <p:cNvSpPr/>
          <p:nvPr userDrawn="1"/>
        </p:nvSpPr>
        <p:spPr>
          <a:xfrm>
            <a:off x="7050951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Rectangle 85"/>
          <p:cNvSpPr/>
          <p:nvPr userDrawn="1"/>
        </p:nvSpPr>
        <p:spPr>
          <a:xfrm>
            <a:off x="4341437" y="2559542"/>
            <a:ext cx="3095876" cy="8004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8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4486442" y="2671575"/>
            <a:ext cx="3192469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88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486442" y="3473181"/>
            <a:ext cx="3192469" cy="2572510"/>
          </a:xfrm>
          <a:prstGeom prst="rect">
            <a:avLst/>
          </a:prstGeom>
        </p:spPr>
        <p:txBody>
          <a:bodyPr anchor="t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187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" y="1945849"/>
            <a:ext cx="11275806" cy="57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noFill/>
              </a:ln>
            </a:endParaRPr>
          </a:p>
        </p:txBody>
      </p:sp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28" name="Rectangle 27"/>
          <p:cNvSpPr/>
          <p:nvPr userDrawn="1"/>
        </p:nvSpPr>
        <p:spPr>
          <a:xfrm>
            <a:off x="457199" y="2559541"/>
            <a:ext cx="2740483" cy="369521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464596" y="2559542"/>
            <a:ext cx="2330480" cy="8004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54" name="Text Placeholder 3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57200" y="1945849"/>
            <a:ext cx="11275806" cy="571440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endParaRPr lang="en-IN" dirty="0"/>
          </a:p>
        </p:txBody>
      </p:sp>
      <p:sp>
        <p:nvSpPr>
          <p:cNvPr id="56" name="Text Placeholder 5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9601" y="3473181"/>
            <a:ext cx="2377257" cy="2572510"/>
          </a:xfrm>
          <a:prstGeom prst="rect">
            <a:avLst/>
          </a:prstGeom>
        </p:spPr>
        <p:txBody>
          <a:bodyPr anchor="t"/>
          <a:lstStyle>
            <a:lvl1pPr>
              <a:defRPr sz="12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</a:t>
            </a:r>
            <a:r>
              <a:rPr lang="en-US" dirty="0"/>
              <a:t>.</a:t>
            </a:r>
          </a:p>
        </p:txBody>
      </p:sp>
      <p:sp>
        <p:nvSpPr>
          <p:cNvPr id="24" name="Parallelogram 23"/>
          <p:cNvSpPr/>
          <p:nvPr userDrawn="1"/>
        </p:nvSpPr>
        <p:spPr>
          <a:xfrm>
            <a:off x="2392470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 Placeholder 5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09601" y="2671575"/>
            <a:ext cx="2377257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61" name="Rectangle 60"/>
          <p:cNvSpPr/>
          <p:nvPr userDrawn="1"/>
        </p:nvSpPr>
        <p:spPr>
          <a:xfrm>
            <a:off x="3302307" y="2559541"/>
            <a:ext cx="2740483" cy="369521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2" name="Rectangle 61"/>
          <p:cNvSpPr/>
          <p:nvPr userDrawn="1"/>
        </p:nvSpPr>
        <p:spPr>
          <a:xfrm>
            <a:off x="6147415" y="2559541"/>
            <a:ext cx="2740483" cy="369521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3" name="Rectangle 62"/>
          <p:cNvSpPr/>
          <p:nvPr userDrawn="1"/>
        </p:nvSpPr>
        <p:spPr>
          <a:xfrm>
            <a:off x="8992523" y="2559541"/>
            <a:ext cx="2740483" cy="3695210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008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4" name="Rectangle 63"/>
          <p:cNvSpPr/>
          <p:nvPr userDrawn="1"/>
        </p:nvSpPr>
        <p:spPr>
          <a:xfrm>
            <a:off x="3302307" y="2559542"/>
            <a:ext cx="2330480" cy="8004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3447312" y="3473181"/>
            <a:ext cx="2377257" cy="2572510"/>
          </a:xfrm>
          <a:prstGeom prst="rect">
            <a:avLst/>
          </a:prstGeom>
        </p:spPr>
        <p:txBody>
          <a:bodyPr anchor="t"/>
          <a:lstStyle>
            <a:lvl1pPr>
              <a:defRPr sz="12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</a:t>
            </a:r>
            <a:r>
              <a:rPr lang="en-US" dirty="0"/>
              <a:t>.</a:t>
            </a:r>
          </a:p>
        </p:txBody>
      </p:sp>
      <p:sp>
        <p:nvSpPr>
          <p:cNvPr id="66" name="Parallelogram 65"/>
          <p:cNvSpPr/>
          <p:nvPr userDrawn="1"/>
        </p:nvSpPr>
        <p:spPr>
          <a:xfrm>
            <a:off x="5230181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3447312" y="2671575"/>
            <a:ext cx="2377257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68" name="Rectangle 67"/>
          <p:cNvSpPr/>
          <p:nvPr userDrawn="1"/>
        </p:nvSpPr>
        <p:spPr>
          <a:xfrm>
            <a:off x="6140018" y="2559542"/>
            <a:ext cx="2330480" cy="8004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69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5023" y="3473181"/>
            <a:ext cx="2377257" cy="2572510"/>
          </a:xfrm>
          <a:prstGeom prst="rect">
            <a:avLst/>
          </a:prstGeom>
        </p:spPr>
        <p:txBody>
          <a:bodyPr anchor="t"/>
          <a:lstStyle>
            <a:lvl1pPr>
              <a:defRPr sz="12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</a:t>
            </a:r>
            <a:r>
              <a:rPr lang="en-US" dirty="0"/>
              <a:t>.</a:t>
            </a:r>
          </a:p>
        </p:txBody>
      </p:sp>
      <p:sp>
        <p:nvSpPr>
          <p:cNvPr id="70" name="Parallelogram 69"/>
          <p:cNvSpPr/>
          <p:nvPr userDrawn="1"/>
        </p:nvSpPr>
        <p:spPr>
          <a:xfrm>
            <a:off x="8067892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6285023" y="2671575"/>
            <a:ext cx="2377257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72" name="Rectangle 71"/>
          <p:cNvSpPr/>
          <p:nvPr userDrawn="1"/>
        </p:nvSpPr>
        <p:spPr>
          <a:xfrm>
            <a:off x="9002048" y="2559542"/>
            <a:ext cx="2330480" cy="8004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73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9147053" y="3473181"/>
            <a:ext cx="2377257" cy="2572510"/>
          </a:xfrm>
          <a:prstGeom prst="rect">
            <a:avLst/>
          </a:prstGeom>
        </p:spPr>
        <p:txBody>
          <a:bodyPr anchor="t"/>
          <a:lstStyle>
            <a:lvl1pPr>
              <a:defRPr sz="12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</a:t>
            </a:r>
            <a:r>
              <a:rPr lang="en-US" dirty="0"/>
              <a:t>.</a:t>
            </a:r>
          </a:p>
        </p:txBody>
      </p:sp>
      <p:sp>
        <p:nvSpPr>
          <p:cNvPr id="74" name="Parallelogram 73"/>
          <p:cNvSpPr/>
          <p:nvPr userDrawn="1"/>
        </p:nvSpPr>
        <p:spPr>
          <a:xfrm>
            <a:off x="10929922" y="2559542"/>
            <a:ext cx="805212" cy="800456"/>
          </a:xfrm>
          <a:prstGeom prst="parallelogram">
            <a:avLst>
              <a:gd name="adj" fmla="val 4909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9147053" y="2671575"/>
            <a:ext cx="2377257" cy="576391"/>
          </a:xfrm>
          <a:prstGeom prst="rect">
            <a:avLst/>
          </a:prstGeom>
        </p:spPr>
        <p:txBody>
          <a:bodyPr anchor="ctr"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2251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holder fo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457201" y="3656214"/>
            <a:ext cx="11275805" cy="800456"/>
            <a:chOff x="457201" y="2058786"/>
            <a:chExt cx="11275805" cy="1233639"/>
          </a:xfrm>
        </p:grpSpPr>
        <p:sp>
          <p:nvSpPr>
            <p:cNvPr id="24" name="Rectangle 23"/>
            <p:cNvSpPr/>
            <p:nvPr userDrawn="1"/>
          </p:nvSpPr>
          <p:spPr>
            <a:xfrm>
              <a:off x="4097868" y="2058786"/>
              <a:ext cx="7635138" cy="1233639"/>
            </a:xfrm>
            <a:prstGeom prst="rect">
              <a:avLst/>
            </a:prstGeom>
            <a:solidFill>
              <a:srgbClr val="EBE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" name="Parallelogram 24"/>
            <p:cNvSpPr/>
            <p:nvPr userDrawn="1"/>
          </p:nvSpPr>
          <p:spPr>
            <a:xfrm>
              <a:off x="3617383" y="2058786"/>
              <a:ext cx="960968" cy="1233639"/>
            </a:xfrm>
            <a:prstGeom prst="parallelogram">
              <a:avLst>
                <a:gd name="adj" fmla="val 4909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1066800" y="2058786"/>
              <a:ext cx="3031067" cy="12336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endParaRPr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457201" y="2058786"/>
              <a:ext cx="609599" cy="123363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457201" y="1943006"/>
            <a:ext cx="11275805" cy="800456"/>
            <a:chOff x="457201" y="3486665"/>
            <a:chExt cx="11275805" cy="1233639"/>
          </a:xfrm>
        </p:grpSpPr>
        <p:sp>
          <p:nvSpPr>
            <p:cNvPr id="28" name="Rectangle 27"/>
            <p:cNvSpPr/>
            <p:nvPr userDrawn="1"/>
          </p:nvSpPr>
          <p:spPr>
            <a:xfrm>
              <a:off x="4097868" y="3486665"/>
              <a:ext cx="7635138" cy="1233639"/>
            </a:xfrm>
            <a:prstGeom prst="rect">
              <a:avLst/>
            </a:prstGeom>
            <a:solidFill>
              <a:srgbClr val="EBE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" name="Parallelogram 28"/>
            <p:cNvSpPr/>
            <p:nvPr userDrawn="1"/>
          </p:nvSpPr>
          <p:spPr>
            <a:xfrm>
              <a:off x="3617383" y="3486665"/>
              <a:ext cx="960968" cy="1233639"/>
            </a:xfrm>
            <a:prstGeom prst="parallelogram">
              <a:avLst>
                <a:gd name="adj" fmla="val 4909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1066800" y="3486665"/>
              <a:ext cx="3031067" cy="123363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endParaRPr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457201" y="3486665"/>
              <a:ext cx="609599" cy="123363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457201" y="2799610"/>
            <a:ext cx="11275805" cy="800456"/>
            <a:chOff x="457201" y="4914544"/>
            <a:chExt cx="11275805" cy="1233639"/>
          </a:xfrm>
        </p:grpSpPr>
        <p:sp>
          <p:nvSpPr>
            <p:cNvPr id="32" name="Rectangle 31"/>
            <p:cNvSpPr/>
            <p:nvPr userDrawn="1"/>
          </p:nvSpPr>
          <p:spPr>
            <a:xfrm>
              <a:off x="4097868" y="4914544"/>
              <a:ext cx="7635138" cy="1233639"/>
            </a:xfrm>
            <a:prstGeom prst="rect">
              <a:avLst/>
            </a:prstGeom>
            <a:solidFill>
              <a:srgbClr val="EBE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" name="Parallelogram 32"/>
            <p:cNvSpPr/>
            <p:nvPr userDrawn="1"/>
          </p:nvSpPr>
          <p:spPr>
            <a:xfrm>
              <a:off x="3617383" y="4914544"/>
              <a:ext cx="960968" cy="1233639"/>
            </a:xfrm>
            <a:prstGeom prst="parallelogram">
              <a:avLst>
                <a:gd name="adj" fmla="val 49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Rectangle 33"/>
            <p:cNvSpPr/>
            <p:nvPr userDrawn="1"/>
          </p:nvSpPr>
          <p:spPr>
            <a:xfrm>
              <a:off x="1066800" y="4914544"/>
              <a:ext cx="3031067" cy="12336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57201" y="4914544"/>
              <a:ext cx="609599" cy="12336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44" name="Group 43"/>
          <p:cNvGrpSpPr/>
          <p:nvPr userDrawn="1"/>
        </p:nvGrpSpPr>
        <p:grpSpPr>
          <a:xfrm>
            <a:off x="457201" y="4512818"/>
            <a:ext cx="11275805" cy="800456"/>
            <a:chOff x="457201" y="3486665"/>
            <a:chExt cx="11275805" cy="1233639"/>
          </a:xfrm>
        </p:grpSpPr>
        <p:sp>
          <p:nvSpPr>
            <p:cNvPr id="45" name="Rectangle 44"/>
            <p:cNvSpPr/>
            <p:nvPr userDrawn="1"/>
          </p:nvSpPr>
          <p:spPr>
            <a:xfrm>
              <a:off x="4097868" y="3486665"/>
              <a:ext cx="7635138" cy="1233639"/>
            </a:xfrm>
            <a:prstGeom prst="rect">
              <a:avLst/>
            </a:prstGeom>
            <a:solidFill>
              <a:srgbClr val="EBE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6" name="Parallelogram 45"/>
            <p:cNvSpPr/>
            <p:nvPr userDrawn="1"/>
          </p:nvSpPr>
          <p:spPr>
            <a:xfrm>
              <a:off x="3617383" y="3486665"/>
              <a:ext cx="960968" cy="1233639"/>
            </a:xfrm>
            <a:prstGeom prst="parallelogram">
              <a:avLst>
                <a:gd name="adj" fmla="val 4909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Rectangle 46"/>
            <p:cNvSpPr/>
            <p:nvPr userDrawn="1"/>
          </p:nvSpPr>
          <p:spPr>
            <a:xfrm>
              <a:off x="1066800" y="3486665"/>
              <a:ext cx="3031067" cy="123363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endParaRPr>
            </a:p>
          </p:txBody>
        </p:sp>
        <p:sp>
          <p:nvSpPr>
            <p:cNvPr id="48" name="Rectangle 47"/>
            <p:cNvSpPr/>
            <p:nvPr userDrawn="1"/>
          </p:nvSpPr>
          <p:spPr>
            <a:xfrm>
              <a:off x="457201" y="3486665"/>
              <a:ext cx="609599" cy="123363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49" name="Group 48"/>
          <p:cNvGrpSpPr/>
          <p:nvPr userDrawn="1"/>
        </p:nvGrpSpPr>
        <p:grpSpPr>
          <a:xfrm>
            <a:off x="457201" y="5369423"/>
            <a:ext cx="11275805" cy="800456"/>
            <a:chOff x="457201" y="4914544"/>
            <a:chExt cx="11275805" cy="1233639"/>
          </a:xfrm>
        </p:grpSpPr>
        <p:sp>
          <p:nvSpPr>
            <p:cNvPr id="50" name="Rectangle 49"/>
            <p:cNvSpPr/>
            <p:nvPr userDrawn="1"/>
          </p:nvSpPr>
          <p:spPr>
            <a:xfrm>
              <a:off x="4097868" y="4914544"/>
              <a:ext cx="7635138" cy="1233639"/>
            </a:xfrm>
            <a:prstGeom prst="rect">
              <a:avLst/>
            </a:prstGeom>
            <a:solidFill>
              <a:srgbClr val="EBE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51" name="Parallelogram 50"/>
            <p:cNvSpPr/>
            <p:nvPr userDrawn="1"/>
          </p:nvSpPr>
          <p:spPr>
            <a:xfrm>
              <a:off x="3617383" y="4914544"/>
              <a:ext cx="960968" cy="1233639"/>
            </a:xfrm>
            <a:prstGeom prst="parallelogram">
              <a:avLst>
                <a:gd name="adj" fmla="val 4909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 userDrawn="1"/>
          </p:nvSpPr>
          <p:spPr>
            <a:xfrm>
              <a:off x="1066800" y="4914544"/>
              <a:ext cx="3031067" cy="12336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charset="0"/>
                <a:ea typeface="Georgia" charset="0"/>
                <a:cs typeface="Georgia" charset="0"/>
              </a:endParaRPr>
            </a:p>
          </p:txBody>
        </p:sp>
        <p:sp>
          <p:nvSpPr>
            <p:cNvPr id="53" name="Rectangle 52"/>
            <p:cNvSpPr/>
            <p:nvPr userDrawn="1"/>
          </p:nvSpPr>
          <p:spPr>
            <a:xfrm>
              <a:off x="457201" y="4914544"/>
              <a:ext cx="609599" cy="123363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5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019554"/>
            <a:ext cx="619763" cy="57144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5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219200" y="2055039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6" name="Text Placeholder 5"/>
          <p:cNvSpPr>
            <a:spLocks noGrp="1"/>
          </p:cNvSpPr>
          <p:nvPr>
            <p:ph type="body" sz="quarter" idx="21" hasCustomPrompt="1"/>
          </p:nvPr>
        </p:nvSpPr>
        <p:spPr>
          <a:xfrm>
            <a:off x="4796526" y="2055039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856546"/>
            <a:ext cx="619763" cy="57144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IN" dirty="0"/>
          </a:p>
        </p:txBody>
      </p:sp>
      <p:sp>
        <p:nvSpPr>
          <p:cNvPr id="58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219200" y="2919038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59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4796526" y="2919038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457200" y="3671005"/>
            <a:ext cx="619763" cy="57144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IN" dirty="0"/>
          </a:p>
        </p:txBody>
      </p:sp>
      <p:sp>
        <p:nvSpPr>
          <p:cNvPr id="61" name="Text Placeholder 5"/>
          <p:cNvSpPr>
            <a:spLocks noGrp="1"/>
          </p:cNvSpPr>
          <p:nvPr>
            <p:ph type="body" sz="quarter" idx="26" hasCustomPrompt="1"/>
          </p:nvPr>
        </p:nvSpPr>
        <p:spPr>
          <a:xfrm>
            <a:off x="1219200" y="3775642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2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4796526" y="3775642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3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514555"/>
            <a:ext cx="619763" cy="57144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IN" dirty="0"/>
          </a:p>
        </p:txBody>
      </p:sp>
      <p:sp>
        <p:nvSpPr>
          <p:cNvPr id="64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219200" y="4632246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5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4796526" y="4632246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67" name="Text Placeholder 5"/>
          <p:cNvSpPr>
            <a:spLocks noGrp="1"/>
          </p:cNvSpPr>
          <p:nvPr>
            <p:ph type="body" sz="quarter" idx="32" hasCustomPrompt="1"/>
          </p:nvPr>
        </p:nvSpPr>
        <p:spPr>
          <a:xfrm>
            <a:off x="1219200" y="5483537"/>
            <a:ext cx="3200400" cy="576391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68" name="Text Placeholder 5"/>
          <p:cNvSpPr>
            <a:spLocks noGrp="1"/>
          </p:cNvSpPr>
          <p:nvPr>
            <p:ph type="body" sz="quarter" idx="33" hasCustomPrompt="1"/>
          </p:nvPr>
        </p:nvSpPr>
        <p:spPr>
          <a:xfrm>
            <a:off x="4796526" y="5483537"/>
            <a:ext cx="6709673" cy="576391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71" name="Text Placeholder 3"/>
          <p:cNvSpPr>
            <a:spLocks noGrp="1"/>
          </p:cNvSpPr>
          <p:nvPr>
            <p:ph type="body" sz="quarter" idx="34" hasCustomPrompt="1"/>
          </p:nvPr>
        </p:nvSpPr>
        <p:spPr>
          <a:xfrm>
            <a:off x="457200" y="5363404"/>
            <a:ext cx="619763" cy="571440"/>
          </a:xfrm>
          <a:prstGeom prst="rect">
            <a:avLst/>
          </a:prstGeom>
        </p:spPr>
        <p:txBody>
          <a:bodyPr anchor="ctr"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1227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 with Content for 4 Dimen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1905000"/>
            <a:ext cx="4229100" cy="4393282"/>
          </a:xfrm>
          <a:prstGeom prst="rect">
            <a:avLst/>
          </a:prstGeom>
        </p:spPr>
      </p:pic>
      <p:sp>
        <p:nvSpPr>
          <p:cNvPr id="32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532744"/>
            <a:ext cx="3429000" cy="137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846944"/>
            <a:ext cx="3429000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5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8310032" y="2532744"/>
            <a:ext cx="3429000" cy="137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8310032" y="1846944"/>
            <a:ext cx="3429000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906978"/>
            <a:ext cx="3429000" cy="137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221178"/>
            <a:ext cx="3429000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8310032" y="4906978"/>
            <a:ext cx="3429000" cy="137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8310032" y="4221178"/>
            <a:ext cx="3429000" cy="6858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21" hasCustomPrompt="1"/>
          </p:nvPr>
        </p:nvSpPr>
        <p:spPr>
          <a:xfrm rot="19402216">
            <a:off x="4526147" y="2699113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22" hasCustomPrompt="1"/>
          </p:nvPr>
        </p:nvSpPr>
        <p:spPr>
          <a:xfrm rot="1800000">
            <a:off x="6086947" y="2655893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46" name="Text Placeholder 22"/>
          <p:cNvSpPr>
            <a:spLocks noGrp="1"/>
          </p:cNvSpPr>
          <p:nvPr>
            <p:ph type="body" sz="quarter" idx="23" hasCustomPrompt="1"/>
          </p:nvPr>
        </p:nvSpPr>
        <p:spPr>
          <a:xfrm rot="12807123">
            <a:off x="4191001" y="4282055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24" hasCustomPrompt="1"/>
          </p:nvPr>
        </p:nvSpPr>
        <p:spPr>
          <a:xfrm rot="8786600">
            <a:off x="6423414" y="4292297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31802278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s with Content for 6 Dimen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3000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4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32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219326"/>
            <a:ext cx="3429000" cy="98428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1905000"/>
            <a:ext cx="3429000" cy="30480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35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8310032" y="2223862"/>
            <a:ext cx="3429000" cy="96202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8310032" y="1890486"/>
            <a:ext cx="3429000" cy="31432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24" name="Trapezoid 23"/>
          <p:cNvSpPr/>
          <p:nvPr userDrawn="1"/>
        </p:nvSpPr>
        <p:spPr>
          <a:xfrm rot="5400000">
            <a:off x="3635208" y="3211877"/>
            <a:ext cx="2225271" cy="1155377"/>
          </a:xfrm>
          <a:prstGeom prst="trapezoid">
            <a:avLst>
              <a:gd name="adj" fmla="val 574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rapezoid 24"/>
          <p:cNvSpPr/>
          <p:nvPr userDrawn="1"/>
        </p:nvSpPr>
        <p:spPr>
          <a:xfrm rot="9000000">
            <a:off x="4310915" y="2047217"/>
            <a:ext cx="2225271" cy="1155377"/>
          </a:xfrm>
          <a:prstGeom prst="trapezoid">
            <a:avLst>
              <a:gd name="adj" fmla="val 5747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Trapezoid 25"/>
          <p:cNvSpPr/>
          <p:nvPr userDrawn="1"/>
        </p:nvSpPr>
        <p:spPr>
          <a:xfrm rot="1800000">
            <a:off x="4309933" y="4375474"/>
            <a:ext cx="2225271" cy="1155377"/>
          </a:xfrm>
          <a:prstGeom prst="trapezoid">
            <a:avLst>
              <a:gd name="adj" fmla="val 5747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rapezoid 26"/>
          <p:cNvSpPr/>
          <p:nvPr userDrawn="1"/>
        </p:nvSpPr>
        <p:spPr>
          <a:xfrm rot="16200000">
            <a:off x="6334282" y="3210814"/>
            <a:ext cx="2225271" cy="1155377"/>
          </a:xfrm>
          <a:prstGeom prst="trapezoid">
            <a:avLst>
              <a:gd name="adj" fmla="val 5747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rapezoid 27"/>
          <p:cNvSpPr/>
          <p:nvPr userDrawn="1"/>
        </p:nvSpPr>
        <p:spPr>
          <a:xfrm rot="19800000">
            <a:off x="5658575" y="4375474"/>
            <a:ext cx="2225271" cy="1155377"/>
          </a:xfrm>
          <a:prstGeom prst="trapezoid">
            <a:avLst>
              <a:gd name="adj" fmla="val 5747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Trapezoid 29"/>
          <p:cNvSpPr/>
          <p:nvPr userDrawn="1"/>
        </p:nvSpPr>
        <p:spPr>
          <a:xfrm rot="12600000">
            <a:off x="5659557" y="2047217"/>
            <a:ext cx="2225271" cy="1155377"/>
          </a:xfrm>
          <a:prstGeom prst="trapezoid">
            <a:avLst>
              <a:gd name="adj" fmla="val 5747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10800000"/>
              </a:camera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21" hasCustomPrompt="1"/>
          </p:nvPr>
        </p:nvSpPr>
        <p:spPr>
          <a:xfrm rot="19743904">
            <a:off x="4636957" y="2049876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22" hasCustomPrompt="1"/>
          </p:nvPr>
        </p:nvSpPr>
        <p:spPr>
          <a:xfrm rot="1803890">
            <a:off x="6059785" y="2072732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49" name="Text Placeholder 22"/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6758675" y="3339835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3880567" y="3284572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25" hasCustomPrompt="1"/>
          </p:nvPr>
        </p:nvSpPr>
        <p:spPr>
          <a:xfrm rot="9000000">
            <a:off x="6071004" y="4517898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52" name="Text Placeholder 22"/>
          <p:cNvSpPr>
            <a:spLocks noGrp="1"/>
          </p:cNvSpPr>
          <p:nvPr>
            <p:ph type="body" sz="quarter" idx="26" hasCustomPrompt="1"/>
          </p:nvPr>
        </p:nvSpPr>
        <p:spPr>
          <a:xfrm rot="12600000">
            <a:off x="4616287" y="4517899"/>
            <a:ext cx="1543050" cy="98685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754660"/>
            <a:ext cx="3429000" cy="98428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0334"/>
            <a:ext cx="3429000" cy="30480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29" hasCustomPrompt="1"/>
          </p:nvPr>
        </p:nvSpPr>
        <p:spPr>
          <a:xfrm>
            <a:off x="8310032" y="3773710"/>
            <a:ext cx="3429000" cy="96202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3" name="Text Placeholder 22"/>
          <p:cNvSpPr>
            <a:spLocks noGrp="1"/>
          </p:cNvSpPr>
          <p:nvPr>
            <p:ph type="body" sz="quarter" idx="30" hasCustomPrompt="1"/>
          </p:nvPr>
        </p:nvSpPr>
        <p:spPr>
          <a:xfrm>
            <a:off x="8310032" y="3440334"/>
            <a:ext cx="3429000" cy="31432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61" name="Text Placeholder 22"/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5295901"/>
            <a:ext cx="3429000" cy="98428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62" name="Text Placeholder 22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4981575"/>
            <a:ext cx="3429000" cy="30480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  <p:sp>
        <p:nvSpPr>
          <p:cNvPr id="64" name="Text Placeholder 22"/>
          <p:cNvSpPr>
            <a:spLocks noGrp="1"/>
          </p:cNvSpPr>
          <p:nvPr>
            <p:ph type="body" sz="quarter" idx="33" hasCustomPrompt="1"/>
          </p:nvPr>
        </p:nvSpPr>
        <p:spPr>
          <a:xfrm>
            <a:off x="8310032" y="5314951"/>
            <a:ext cx="3429000" cy="96202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4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65" name="Text Placeholder 22"/>
          <p:cNvSpPr>
            <a:spLocks noGrp="1"/>
          </p:cNvSpPr>
          <p:nvPr>
            <p:ph type="body" sz="quarter" idx="34" hasCustomPrompt="1"/>
          </p:nvPr>
        </p:nvSpPr>
        <p:spPr>
          <a:xfrm>
            <a:off x="8310032" y="4981575"/>
            <a:ext cx="3429000" cy="31432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1200"/>
              </a:spcAft>
              <a:buClr>
                <a:srgbClr val="FF545F"/>
              </a:buClr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8213284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6019800" y="3236646"/>
            <a:ext cx="0" cy="362135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 userDrawn="1"/>
        </p:nvSpPr>
        <p:spPr>
          <a:xfrm>
            <a:off x="5486400" y="2703246"/>
            <a:ext cx="1066800" cy="1066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/>
          <p:cNvSpPr/>
          <p:nvPr userDrawn="1"/>
        </p:nvSpPr>
        <p:spPr>
          <a:xfrm>
            <a:off x="5486400" y="4472920"/>
            <a:ext cx="1066800" cy="1066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6846684" y="2821877"/>
            <a:ext cx="2741202" cy="82953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2988382"/>
            <a:ext cx="1535316" cy="496528"/>
          </a:xfrm>
          <a:prstGeom prst="rect">
            <a:avLst/>
          </a:prstGeom>
        </p:spPr>
        <p:txBody>
          <a:bodyPr/>
          <a:lstStyle>
            <a:lvl1pPr marL="0" indent="0" algn="r">
              <a:buClr>
                <a:srgbClr val="FF545F"/>
              </a:buClr>
              <a:buFont typeface="Arial" panose="020B0604020202020204" pitchFamily="34" charset="0"/>
              <a:buNone/>
              <a:defRPr sz="2800" baseline="30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Heading of 1st point</a:t>
            </a: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6846684" y="4758056"/>
            <a:ext cx="1535316" cy="49652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2800" baseline="30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Heading of 1st point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2451714" y="4591551"/>
            <a:ext cx="2741202" cy="82953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5764760" y="2977614"/>
            <a:ext cx="510080" cy="496528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8800" baseline="30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5764760" y="4757795"/>
            <a:ext cx="510080" cy="496528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8800" baseline="30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36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37" name="TextBox 36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  <p:sp>
        <p:nvSpPr>
          <p:cNvPr id="39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445843"/>
            <a:ext cx="5525805" cy="533400"/>
          </a:xfrm>
          <a:prstGeom prst="rect">
            <a:avLst/>
          </a:prstGeom>
        </p:spPr>
        <p:txBody>
          <a:bodyPr/>
          <a:lstStyle>
            <a:lvl1pPr>
              <a:defRPr sz="30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 dirty="0"/>
              <a:t>Content slide title goes here</a:t>
            </a:r>
            <a:endParaRPr lang="en-US" dirty="0"/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022785"/>
            <a:ext cx="8153400" cy="533400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984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steps contin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6019800" y="1"/>
            <a:ext cx="0" cy="686434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 userDrawn="1"/>
        </p:nvSpPr>
        <p:spPr>
          <a:xfrm>
            <a:off x="5486400" y="1160463"/>
            <a:ext cx="1066800" cy="1066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/>
          <p:cNvSpPr/>
          <p:nvPr userDrawn="1"/>
        </p:nvSpPr>
        <p:spPr>
          <a:xfrm>
            <a:off x="5486400" y="2648170"/>
            <a:ext cx="1066800" cy="1066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 Placeholder 22"/>
          <p:cNvSpPr>
            <a:spLocks noGrp="1"/>
          </p:cNvSpPr>
          <p:nvPr>
            <p:ph type="body" sz="quarter" idx="13" hasCustomPrompt="1"/>
          </p:nvPr>
        </p:nvSpPr>
        <p:spPr>
          <a:xfrm>
            <a:off x="6846684" y="1279094"/>
            <a:ext cx="2741202" cy="82953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19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1445599"/>
            <a:ext cx="1535316" cy="496528"/>
          </a:xfrm>
          <a:prstGeom prst="rect">
            <a:avLst/>
          </a:prstGeom>
        </p:spPr>
        <p:txBody>
          <a:bodyPr/>
          <a:lstStyle>
            <a:lvl1pPr marL="0" indent="0" algn="r">
              <a:buClr>
                <a:srgbClr val="FF545F"/>
              </a:buClr>
              <a:buFont typeface="Arial" panose="020B0604020202020204" pitchFamily="34" charset="0"/>
              <a:buNone/>
              <a:defRPr sz="2800" baseline="3000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Heading of 1st point</a:t>
            </a:r>
          </a:p>
        </p:txBody>
      </p:sp>
      <p:sp>
        <p:nvSpPr>
          <p:cNvPr id="20" name="Text Placeholder 22"/>
          <p:cNvSpPr>
            <a:spLocks noGrp="1"/>
          </p:cNvSpPr>
          <p:nvPr>
            <p:ph type="body" sz="quarter" idx="19" hasCustomPrompt="1"/>
          </p:nvPr>
        </p:nvSpPr>
        <p:spPr>
          <a:xfrm>
            <a:off x="6846684" y="2933306"/>
            <a:ext cx="1535316" cy="49652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2800" baseline="30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Heading of 1st point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0" hasCustomPrompt="1"/>
          </p:nvPr>
        </p:nvSpPr>
        <p:spPr>
          <a:xfrm>
            <a:off x="2451714" y="2766801"/>
            <a:ext cx="2741202" cy="82953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21" hasCustomPrompt="1"/>
          </p:nvPr>
        </p:nvSpPr>
        <p:spPr>
          <a:xfrm>
            <a:off x="5764760" y="1434831"/>
            <a:ext cx="510080" cy="496528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8800" baseline="30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22" hasCustomPrompt="1"/>
          </p:nvPr>
        </p:nvSpPr>
        <p:spPr>
          <a:xfrm>
            <a:off x="5764760" y="2933045"/>
            <a:ext cx="510080" cy="496528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8800" baseline="30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2" name="Oval 21"/>
          <p:cNvSpPr/>
          <p:nvPr userDrawn="1"/>
        </p:nvSpPr>
        <p:spPr>
          <a:xfrm>
            <a:off x="5486400" y="4254508"/>
            <a:ext cx="1066800" cy="1066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23" hasCustomPrompt="1"/>
          </p:nvPr>
        </p:nvSpPr>
        <p:spPr>
          <a:xfrm>
            <a:off x="6846684" y="4373139"/>
            <a:ext cx="2741202" cy="82953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FF545F"/>
              </a:buClr>
              <a:buFont typeface="Arial" panose="020B0604020202020204" pitchFamily="34" charset="0"/>
              <a:buNone/>
              <a:defRPr sz="120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adipisicing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24" hasCustomPrompt="1"/>
          </p:nvPr>
        </p:nvSpPr>
        <p:spPr>
          <a:xfrm>
            <a:off x="3657600" y="4539644"/>
            <a:ext cx="1535316" cy="496528"/>
          </a:xfrm>
          <a:prstGeom prst="rect">
            <a:avLst/>
          </a:prstGeom>
        </p:spPr>
        <p:txBody>
          <a:bodyPr/>
          <a:lstStyle>
            <a:lvl1pPr marL="0" indent="0" algn="r">
              <a:buClr>
                <a:srgbClr val="FF545F"/>
              </a:buClr>
              <a:buFont typeface="Arial" panose="020B0604020202020204" pitchFamily="34" charset="0"/>
              <a:buNone/>
              <a:defRPr sz="2800" baseline="30000">
                <a:solidFill>
                  <a:schemeClr val="accent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Heading of 1st point</a:t>
            </a:r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25" hasCustomPrompt="1"/>
          </p:nvPr>
        </p:nvSpPr>
        <p:spPr>
          <a:xfrm>
            <a:off x="5764760" y="4528876"/>
            <a:ext cx="510080" cy="496528"/>
          </a:xfrm>
          <a:prstGeom prst="rect">
            <a:avLst/>
          </a:prstGeom>
        </p:spPr>
        <p:txBody>
          <a:bodyPr/>
          <a:lstStyle>
            <a:lvl1pPr marL="0" indent="0" algn="ctr">
              <a:buClr>
                <a:srgbClr val="FF545F"/>
              </a:buClr>
              <a:buFont typeface="Arial" panose="020B0604020202020204" pitchFamily="34" charset="0"/>
              <a:buNone/>
              <a:defRPr sz="8800" baseline="3000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9" name="Slide Number Placeholder 5"/>
          <p:cNvSpPr txBox="1">
            <a:spLocks/>
          </p:cNvSpPr>
          <p:nvPr userDrawn="1"/>
        </p:nvSpPr>
        <p:spPr>
          <a:xfrm>
            <a:off x="464594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chemeClr val="accent6"/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805722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chemeClr val="accent6"/>
                </a:solidFill>
                <a:latin typeface="+mn-lt"/>
                <a:ea typeface="Georgia" charset="0"/>
                <a:cs typeface="Georgia" charset="0"/>
              </a:rPr>
              <a:t>® 2017 Copyright Genpact. All Rights Reserved.</a:t>
            </a:r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93034" y="6462131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276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32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14600"/>
            <a:ext cx="6019800" cy="1371600"/>
          </a:xfrm>
          <a:prstGeom prst="rect">
            <a:avLst/>
          </a:prstGeom>
        </p:spPr>
        <p:txBody>
          <a:bodyPr/>
          <a:lstStyle>
            <a:lvl1pPr>
              <a:defRPr sz="8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you.</a:t>
            </a:r>
            <a:endParaRPr lang="en-IN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262963"/>
            <a:ext cx="6019800" cy="249839"/>
          </a:xfrm>
          <a:prstGeom prst="rect">
            <a:avLst/>
          </a:prstGeom>
        </p:spPr>
        <p:txBody>
          <a:bodyPr/>
          <a:lstStyle>
            <a:lvl1pPr>
              <a:defRPr sz="8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IN" dirty="0"/>
              <a:t>® 2017 Copyright </a:t>
            </a:r>
            <a:r>
              <a:rPr lang="en-IN" dirty="0" err="1"/>
              <a:t>Genpact</a:t>
            </a:r>
            <a:r>
              <a:rPr lang="en-IN" dirty="0"/>
              <a:t>. All Rights Reserved.</a:t>
            </a: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5181600"/>
            <a:ext cx="2465644" cy="90710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 rotWithShape="1">
          <a:blip r:embed="rId3"/>
          <a:srcRect t="26190"/>
          <a:stretch/>
        </p:blipFill>
        <p:spPr>
          <a:xfrm>
            <a:off x="8001000" y="0"/>
            <a:ext cx="4191000" cy="4309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14600"/>
            <a:ext cx="6019800" cy="1371600"/>
          </a:xfrm>
          <a:prstGeom prst="rect">
            <a:avLst/>
          </a:prstGeom>
        </p:spPr>
        <p:txBody>
          <a:bodyPr/>
          <a:lstStyle>
            <a:lvl1pPr>
              <a:defRPr sz="880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Thank you.</a:t>
            </a:r>
            <a:endParaRPr lang="en-IN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262963"/>
            <a:ext cx="6019800" cy="249839"/>
          </a:xfrm>
          <a:prstGeom prst="rect">
            <a:avLst/>
          </a:prstGeom>
        </p:spPr>
        <p:txBody>
          <a:bodyPr/>
          <a:lstStyle>
            <a:lvl1pPr>
              <a:defRPr sz="800" baseline="0">
                <a:solidFill>
                  <a:schemeClr val="accent3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IN" dirty="0"/>
              <a:t>® 2017 Copyright </a:t>
            </a:r>
            <a:r>
              <a:rPr lang="en-IN" dirty="0" err="1"/>
              <a:t>Genpact</a:t>
            </a:r>
            <a:r>
              <a:rPr lang="en-IN" dirty="0"/>
              <a:t>. All Rights Reserved.</a:t>
            </a: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5181600"/>
            <a:ext cx="2465644" cy="90710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 rotWithShape="1">
          <a:blip r:embed="rId3"/>
          <a:srcRect t="26190"/>
          <a:stretch/>
        </p:blipFill>
        <p:spPr>
          <a:xfrm>
            <a:off x="8001000" y="0"/>
            <a:ext cx="4191000" cy="430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254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514600"/>
            <a:ext cx="6019800" cy="1371600"/>
          </a:xfrm>
          <a:prstGeom prst="rect">
            <a:avLst/>
          </a:prstGeom>
        </p:spPr>
        <p:txBody>
          <a:bodyPr/>
          <a:lstStyle>
            <a:lvl1pPr>
              <a:defRPr sz="8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you.</a:t>
            </a:r>
            <a:endParaRPr lang="en-IN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262963"/>
            <a:ext cx="6019800" cy="249839"/>
          </a:xfrm>
          <a:prstGeom prst="rect">
            <a:avLst/>
          </a:prstGeom>
        </p:spPr>
        <p:txBody>
          <a:bodyPr/>
          <a:lstStyle>
            <a:lvl1pPr>
              <a:defRPr sz="8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IN" dirty="0"/>
              <a:t>® 2017 Copyright </a:t>
            </a:r>
            <a:r>
              <a:rPr lang="en-IN" dirty="0" err="1"/>
              <a:t>Genpact</a:t>
            </a:r>
            <a:r>
              <a:rPr lang="en-IN" dirty="0"/>
              <a:t>. All Rights Reserved.</a:t>
            </a:r>
          </a:p>
        </p:txBody>
      </p: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5181600"/>
            <a:ext cx="2465644" cy="907105"/>
          </a:xfrm>
          <a:prstGeom prst="rect">
            <a:avLst/>
          </a:prstGeom>
        </p:spPr>
      </p:pic>
      <p:sp>
        <p:nvSpPr>
          <p:cNvPr id="4" name="AutoShape 3"/>
          <p:cNvSpPr>
            <a:spLocks noChangeAspect="1" noChangeArrowheads="1" noTextEdit="1"/>
          </p:cNvSpPr>
          <p:nvPr userDrawn="1"/>
        </p:nvSpPr>
        <p:spPr bwMode="auto">
          <a:xfrm>
            <a:off x="6781800" y="5105400"/>
            <a:ext cx="2465388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45" name="Picture 44"/>
          <p:cNvPicPr>
            <a:picLocks noChangeAspect="1"/>
          </p:cNvPicPr>
          <p:nvPr userDrawn="1"/>
        </p:nvPicPr>
        <p:blipFill rotWithShape="1">
          <a:blip r:embed="rId3"/>
          <a:srcRect t="26190"/>
          <a:stretch/>
        </p:blipFill>
        <p:spPr>
          <a:xfrm>
            <a:off x="8001000" y="0"/>
            <a:ext cx="4191000" cy="430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291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1122363"/>
            <a:ext cx="11460480" cy="2387600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3602037"/>
            <a:ext cx="11460480" cy="1655763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384032" y="6509188"/>
            <a:ext cx="1248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2368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Placeholder fo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460744" y="457201"/>
            <a:ext cx="7235456" cy="533400"/>
          </a:xfrm>
          <a:prstGeom prst="rect">
            <a:avLst/>
          </a:prstGeom>
        </p:spPr>
        <p:txBody>
          <a:bodyPr anchor="ctr"/>
          <a:lstStyle>
            <a:lvl1pPr>
              <a:defRPr sz="2999" baseline="0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IN"/>
              <a:t>Content slide title goes here</a:t>
            </a:r>
            <a:endParaRPr lang="en-US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460745" y="976087"/>
            <a:ext cx="9673856" cy="533400"/>
          </a:xfrm>
          <a:prstGeom prst="rect">
            <a:avLst/>
          </a:prstGeom>
        </p:spPr>
        <p:txBody>
          <a:bodyPr anchor="ctr"/>
          <a:lstStyle>
            <a:lvl1pPr>
              <a:defRPr sz="2199">
                <a:solidFill>
                  <a:srgbClr val="06316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464595" y="6546567"/>
            <a:ext cx="682256" cy="21544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05306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285110E-A93C-E24B-BA01-8EFF0EF70079}" type="slidenum">
              <a:rPr lang="en-US" b="1" smtClean="0">
                <a:solidFill>
                  <a:srgbClr val="073262"/>
                </a:solidFill>
                <a:latin typeface="Georgia"/>
              </a:rPr>
              <a:pPr/>
              <a:t>‹#›</a:t>
            </a:fld>
            <a:endParaRPr lang="en-US" b="1" dirty="0">
              <a:solidFill>
                <a:srgbClr val="073262"/>
              </a:solidFill>
              <a:latin typeface="Georgia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805723" y="6546567"/>
            <a:ext cx="236140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800" dirty="0">
                <a:solidFill>
                  <a:srgbClr val="073262"/>
                </a:solidFill>
                <a:ea typeface="Georgia" charset="0"/>
                <a:cs typeface="Georgia" charset="0"/>
              </a:rPr>
              <a:t>® 2018 Copyright Genpact. All Rights Reserved.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3035" y="6462135"/>
            <a:ext cx="839972" cy="30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471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36800" y="-22860"/>
            <a:ext cx="2552701" cy="48006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42" t="22571" r="43854" b="11263"/>
          <a:stretch/>
        </p:blipFill>
        <p:spPr>
          <a:xfrm>
            <a:off x="4864119" y="-11430"/>
            <a:ext cx="2475511" cy="48348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27903" y="26"/>
            <a:ext cx="2766340" cy="469936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" y="-18287"/>
            <a:ext cx="2387599" cy="484632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53617" y="-1"/>
            <a:ext cx="2438401" cy="47548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276600"/>
            <a:ext cx="12192000" cy="1676400"/>
          </a:xfrm>
          <a:prstGeom prst="rect">
            <a:avLst/>
          </a:prstGeom>
          <a:gradFill flip="none" rotWithShape="1">
            <a:gsLst>
              <a:gs pos="3200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75000"/>
                  <a:lumOff val="25000"/>
                  <a:alpha val="2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20" rIns="91438" bIns="45720" rtlCol="0" anchor="ctr"/>
          <a:lstStyle/>
          <a:p>
            <a:pPr algn="ctr" defTabSz="914382" fontAlgn="base"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04800" y="5334189"/>
            <a:ext cx="11582400" cy="369332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04800" y="5749269"/>
            <a:ext cx="9296400" cy="514301"/>
          </a:xfrm>
        </p:spPr>
        <p:txBody>
          <a:bodyPr anchor="t"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3441700"/>
            <a:ext cx="5791200" cy="369332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48200"/>
            <a:ext cx="12192000" cy="304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22" name="Picture 21" descr="Generating Impact_YELLOW.pn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400" y="4700041"/>
            <a:ext cx="2784653" cy="220675"/>
          </a:xfrm>
          <a:prstGeom prst="rect">
            <a:avLst/>
          </a:prstGeom>
        </p:spPr>
      </p:pic>
      <p:pic>
        <p:nvPicPr>
          <p:cNvPr id="23" name="DE059669-D665-4EC3-AAD3-76458BA39420" descr="AE5E8382-2306-409F-AEAD-CB65EA6A496C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61" y="6400800"/>
            <a:ext cx="4372864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GP_LD_LOGO.jp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232" y="6248425"/>
            <a:ext cx="3325368" cy="38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400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1080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65760" y="1600200"/>
            <a:ext cx="11460480" cy="1735860"/>
          </a:xfrm>
        </p:spPr>
        <p:txBody>
          <a:bodyPr/>
          <a:lstStyle>
            <a:lvl1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Helvetica Light"/>
              </a:defRPr>
            </a:lvl1pPr>
            <a:lvl2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Helvetica Light"/>
              </a:defRPr>
            </a:lvl2pPr>
            <a:lvl3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Helvetica Light"/>
              </a:defRPr>
            </a:lvl3pPr>
            <a:lvl4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Helvetica Light"/>
              </a:defRPr>
            </a:lvl4pPr>
            <a:lvl5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Helvetica 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64067" y="365127"/>
            <a:ext cx="11463868" cy="9378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3868" y="990600"/>
            <a:ext cx="11480800" cy="400110"/>
          </a:xfrm>
        </p:spPr>
        <p:txBody>
          <a:bodyPr/>
          <a:lstStyle>
            <a:lvl1pPr>
              <a:defRPr sz="2000" cap="all" baseline="0"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CLICK TO EDIT 2ND LINE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32038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461" y="262121"/>
            <a:ext cx="11565083" cy="86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600"/>
              </a:spcBef>
              <a:defRPr sz="1600"/>
            </a:lvl1pPr>
            <a:lvl2pPr marL="422814" indent="-216063">
              <a:spcBef>
                <a:spcPts val="600"/>
              </a:spcBef>
              <a:defRPr sz="1600"/>
            </a:lvl2pPr>
            <a:lvl3pPr marL="631427" indent="-208613">
              <a:spcBef>
                <a:spcPts val="600"/>
              </a:spcBef>
              <a:defRPr sz="1600"/>
            </a:lvl3pPr>
            <a:lvl4pPr marL="838176" indent="-206751">
              <a:spcBef>
                <a:spcPts val="600"/>
              </a:spcBef>
              <a:defRPr sz="1600"/>
            </a:lvl4pPr>
            <a:lvl5pPr marL="1054239" indent="-216063">
              <a:spcBef>
                <a:spcPts val="6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9794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4699363"/>
          </a:xfrm>
          <a:prstGeom prst="rect">
            <a:avLst/>
          </a:prstGeom>
        </p:spPr>
      </p:pic>
      <p:pic>
        <p:nvPicPr>
          <p:cNvPr id="6148" name="DE059669-D665-4EC3-AAD3-76458BA39420" descr="AE5E8382-2306-409F-AEAD-CB65EA6A496C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61" y="6400800"/>
            <a:ext cx="4372864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Object 2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17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2" name="Object 2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1589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119" y="4860868"/>
            <a:ext cx="11460480" cy="461665"/>
          </a:xfrm>
        </p:spPr>
        <p:txBody>
          <a:bodyPr anchor="b"/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365120" y="5368254"/>
            <a:ext cx="7254881" cy="518196"/>
          </a:xfrm>
        </p:spPr>
        <p:txBody>
          <a:bodyPr anchor="t">
            <a:noAutofit/>
          </a:bodyPr>
          <a:lstStyle>
            <a:lvl1pPr>
              <a:defRPr sz="1800"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GP_LD_LOGO.jp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232" y="6248401"/>
            <a:ext cx="3325368" cy="389763"/>
          </a:xfrm>
          <a:prstGeom prst="rect">
            <a:avLst/>
          </a:prstGeom>
        </p:spPr>
      </p:pic>
      <p:pic>
        <p:nvPicPr>
          <p:cNvPr id="12" name="DE059669-D665-4EC3-AAD3-76458BA39420" descr="AE5E8382-2306-409F-AEAD-CB65EA6A496C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61" y="6400800"/>
            <a:ext cx="4372864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0" y="3015966"/>
            <a:ext cx="12192000" cy="1676400"/>
          </a:xfrm>
          <a:prstGeom prst="rect">
            <a:avLst/>
          </a:prstGeom>
          <a:gradFill flip="none" rotWithShape="1">
            <a:gsLst>
              <a:gs pos="32000">
                <a:schemeClr val="tx1">
                  <a:lumMod val="95000"/>
                  <a:lumOff val="5000"/>
                  <a:alpha val="64000"/>
                </a:schemeClr>
              </a:gs>
              <a:gs pos="100000">
                <a:schemeClr val="tx1">
                  <a:lumMod val="75000"/>
                  <a:lumOff val="25000"/>
                  <a:alpha val="28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4397829"/>
            <a:ext cx="12192000" cy="304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11" name="Picture 10" descr="Generating Impact_YELLOW.pn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400" y="4449646"/>
            <a:ext cx="2784653" cy="220675"/>
          </a:xfrm>
          <a:prstGeom prst="rect">
            <a:avLst/>
          </a:prstGeom>
        </p:spPr>
      </p:pic>
      <p:sp>
        <p:nvSpPr>
          <p:cNvPr id="1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04799" y="3441701"/>
            <a:ext cx="10953751" cy="430887"/>
          </a:xfrm>
        </p:spPr>
        <p:txBody>
          <a:bodyPr tIns="0" rIns="0" bIns="0"/>
          <a:lstStyle>
            <a:lvl1pPr>
              <a:defRPr sz="28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5654698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with index hea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64067" y="30145"/>
            <a:ext cx="8678333" cy="294521"/>
          </a:xfrm>
          <a:noFill/>
        </p:spPr>
        <p:txBody>
          <a:bodyPr wrap="square" lIns="0" rtlCol="0" anchor="ctr">
            <a:noAutofit/>
          </a:bodyPr>
          <a:lstStyle>
            <a:lvl1pPr>
              <a:defRPr lang="en-US" sz="1400" kern="1200" dirty="0" smtClean="0">
                <a:solidFill>
                  <a:schemeClr val="bg1"/>
                </a:solidFill>
                <a:latin typeface="Calibri Light"/>
                <a:ea typeface="+mn-ea"/>
                <a:cs typeface="Arial" pitchFamily="34" charset="0"/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sz="1800" dirty="0" smtClean="0">
                <a:solidFill>
                  <a:schemeClr val="tx1"/>
                </a:solidFill>
              </a:defRPr>
            </a:lvl3pPr>
            <a:lvl4pPr>
              <a:defRPr lang="en-US" sz="1800" dirty="0" smtClean="0">
                <a:solidFill>
                  <a:schemeClr val="tx1"/>
                </a:solidFill>
              </a:defRPr>
            </a:lvl4pPr>
            <a:lvl5pPr>
              <a:defRPr lang="en-US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 </a:t>
            </a:r>
            <a:r>
              <a:rPr lang="en-US" sz="900" dirty="0">
                <a:solidFill>
                  <a:schemeClr val="bg2"/>
                </a:solidFill>
              </a:rPr>
              <a:t> 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869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13" Type="http://schemas.openxmlformats.org/officeDocument/2006/relationships/image" Target="../media/image22.png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20.png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1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720" r:id="rId5"/>
    <p:sldLayoutId id="2147483684" r:id="rId6"/>
    <p:sldLayoutId id="2147483685" r:id="rId7"/>
    <p:sldLayoutId id="2147483661" r:id="rId8"/>
    <p:sldLayoutId id="2147483686" r:id="rId9"/>
    <p:sldLayoutId id="2147483726" r:id="rId10"/>
    <p:sldLayoutId id="2147483687" r:id="rId11"/>
    <p:sldLayoutId id="2147483668" r:id="rId12"/>
    <p:sldLayoutId id="2147483727" r:id="rId13"/>
    <p:sldLayoutId id="2147483662" r:id="rId14"/>
    <p:sldLayoutId id="2147483667" r:id="rId15"/>
    <p:sldLayoutId id="2147483702" r:id="rId16"/>
    <p:sldLayoutId id="2147483704" r:id="rId17"/>
    <p:sldLayoutId id="2147483705" r:id="rId18"/>
    <p:sldLayoutId id="2147483670" r:id="rId19"/>
    <p:sldLayoutId id="2147483708" r:id="rId20"/>
    <p:sldLayoutId id="2147483711" r:id="rId21"/>
    <p:sldLayoutId id="2147483774" r:id="rId22"/>
    <p:sldLayoutId id="2147483775" r:id="rId23"/>
    <p:sldLayoutId id="2147483776" r:id="rId24"/>
    <p:sldLayoutId id="2147483777" r:id="rId25"/>
    <p:sldLayoutId id="2147483764" r:id="rId26"/>
    <p:sldLayoutId id="2147483765" r:id="rId27"/>
    <p:sldLayoutId id="2147483763" r:id="rId28"/>
    <p:sldLayoutId id="2147483766" r:id="rId29"/>
    <p:sldLayoutId id="2147483768" r:id="rId30"/>
    <p:sldLayoutId id="2147483769" r:id="rId31"/>
    <p:sldLayoutId id="2147483767" r:id="rId32"/>
    <p:sldLayoutId id="2147483770" r:id="rId33"/>
    <p:sldLayoutId id="2147483771" r:id="rId34"/>
    <p:sldLayoutId id="2147483772" r:id="rId35"/>
    <p:sldLayoutId id="2147483773" r:id="rId36"/>
    <p:sldLayoutId id="2147483665" r:id="rId37"/>
    <p:sldLayoutId id="2147483713" r:id="rId38"/>
    <p:sldLayoutId id="2147483712" r:id="rId39"/>
    <p:sldLayoutId id="2147483786" r:id="rId40"/>
    <p:sldLayoutId id="2147483798" r:id="rId41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0693" y="421761"/>
            <a:ext cx="11582400" cy="385500"/>
          </a:xfrm>
          <a:prstGeom prst="rect">
            <a:avLst/>
          </a:prstGeom>
        </p:spPr>
        <p:txBody>
          <a:bodyPr vert="horz" lIns="91438" tIns="45720" rIns="91438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356293"/>
            <a:ext cx="11582400" cy="1735860"/>
          </a:xfrm>
          <a:prstGeom prst="rect">
            <a:avLst/>
          </a:prstGeom>
        </p:spPr>
        <p:txBody>
          <a:bodyPr vert="horz" lIns="91438" tIns="45720" rIns="91438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4" name="DE059669-D665-4EC3-AAD3-76458BA39420" descr="AE5E8382-2306-409F-AEAD-CB65EA6A496C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1" y="6596003"/>
            <a:ext cx="3498295" cy="14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Connector 14"/>
          <p:cNvCxnSpPr/>
          <p:nvPr/>
        </p:nvCxnSpPr>
        <p:spPr>
          <a:xfrm>
            <a:off x="0" y="6477000"/>
            <a:ext cx="12192000" cy="158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2"/>
          <p:cNvSpPr txBox="1">
            <a:spLocks/>
          </p:cNvSpPr>
          <p:nvPr/>
        </p:nvSpPr>
        <p:spPr>
          <a:xfrm>
            <a:off x="11379200" y="6553225"/>
            <a:ext cx="609600" cy="23920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F94C26-2A70-4961-AAB1-3557AEA8AC57}" type="slidenum">
              <a:rPr lang="en-US" sz="900" smtClean="0">
                <a:solidFill>
                  <a:prstClr val="black">
                    <a:lumMod val="50000"/>
                    <a:lumOff val="50000"/>
                  </a:prstClr>
                </a:solidFill>
                <a:latin typeface="Calibri Light"/>
              </a:rPr>
              <a:pPr algn="r"/>
              <a:t>‹#›</a:t>
            </a:fld>
            <a:endParaRPr lang="en-US" sz="900" dirty="0">
              <a:solidFill>
                <a:prstClr val="black">
                  <a:lumMod val="50000"/>
                  <a:lumOff val="50000"/>
                </a:prstClr>
              </a:solidFill>
              <a:latin typeface="Calibri Light"/>
            </a:endParaRPr>
          </a:p>
        </p:txBody>
      </p:sp>
      <p:sp>
        <p:nvSpPr>
          <p:cNvPr id="21" name="Footer Placeholder 81"/>
          <p:cNvSpPr txBox="1">
            <a:spLocks noGrp="1"/>
          </p:cNvSpPr>
          <p:nvPr/>
        </p:nvSpPr>
        <p:spPr bwMode="auto">
          <a:xfrm>
            <a:off x="8899881" y="6595291"/>
            <a:ext cx="2784123" cy="1971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eaLnBrk="0" hangingPunct="0"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defRPr/>
            </a:pPr>
            <a:r>
              <a:rPr lang="en-US" sz="800" dirty="0">
                <a:solidFill>
                  <a:srgbClr val="414141"/>
                </a:solidFill>
                <a:latin typeface="Calibri Light"/>
                <a:ea typeface="Arial Unicode MS" pitchFamily="34" charset="-128"/>
                <a:cs typeface="Arial Unicode MS" pitchFamily="34" charset="-128"/>
              </a:rPr>
              <a:t>© 2016 Copyright Genpact. All Rights Reserved.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381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23" name="Picture 22" descr="Generating Impact_YELLOW.pn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400" y="100609"/>
            <a:ext cx="2784653" cy="220675"/>
          </a:xfrm>
          <a:prstGeom prst="rect">
            <a:avLst/>
          </a:prstGeom>
        </p:spPr>
      </p:pic>
      <p:pic>
        <p:nvPicPr>
          <p:cNvPr id="24" name="Picture 23" descr="DOTS_LIGHT Gray_SHORT.png"/>
          <p:cNvPicPr>
            <a:picLocks noChangeAspect="1"/>
          </p:cNvPicPr>
          <p:nvPr/>
        </p:nvPicPr>
        <p:blipFill>
          <a:blip r:embed="rId11" cstate="screen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5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4417" y="36576"/>
            <a:ext cx="5410809" cy="322174"/>
          </a:xfrm>
          <a:prstGeom prst="rect">
            <a:avLst/>
          </a:prstGeom>
        </p:spPr>
      </p:pic>
      <p:pic>
        <p:nvPicPr>
          <p:cNvPr id="25" name="Picture 24" descr="GP_GRAY_LOGO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3" y="6601993"/>
            <a:ext cx="1075267" cy="13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0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6" r:id="rId6"/>
    <p:sldLayoutId id="2147483797" r:id="rId7"/>
  </p:sldLayoutIdLst>
  <p:hf sldNum="0" hdr="0" dt="0"/>
  <p:txStyles>
    <p:titleStyle>
      <a:lvl1pPr algn="l" defTabSz="914382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>
              <a:lumMod val="75000"/>
              <a:lumOff val="25000"/>
            </a:schemeClr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indent="0" algn="l" defTabSz="914382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69860" indent="-169860" algn="l" defTabSz="914382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Clr>
          <a:schemeClr val="bg2"/>
        </a:buClr>
        <a:buSzPct val="85000"/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347657" indent="-177797" algn="l" defTabSz="914382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Clr>
          <a:schemeClr val="bg2"/>
        </a:buClr>
        <a:buSzPct val="50000"/>
        <a:buFont typeface="Arial" panose="020B0604020202020204" pitchFamily="34" charset="0"/>
        <a:buChar char="–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15929" indent="-168272" algn="l" defTabSz="914382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Clr>
          <a:schemeClr val="bg2"/>
        </a:buClr>
        <a:buSzPct val="65000"/>
        <a:buFont typeface="Wingdings" panose="05000000000000000000" pitchFamily="2" charset="2"/>
        <a:buChar char="§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85788" indent="-169860" algn="l" defTabSz="914382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65000"/>
        <a:buFont typeface="Arial" panose="020B0604020202020204" pitchFamily="34" charset="0"/>
        <a:buChar char="–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52" indent="-228596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45" indent="-228596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36" indent="-228596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28" indent="-228596" algn="l" defTabSz="91438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1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2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4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7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8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49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0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31" algn="l" defTabSz="9143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144">
          <p15:clr>
            <a:srgbClr val="F26B43"/>
          </p15:clr>
        </p15:guide>
        <p15:guide id="4" pos="5616">
          <p15:clr>
            <a:srgbClr val="F26B43"/>
          </p15:clr>
        </p15:guide>
        <p15:guide id="5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A657D-4B10-4FBA-8DF5-DD5EF7EF02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8600" y="152400"/>
            <a:ext cx="10969256" cy="533400"/>
          </a:xfrm>
        </p:spPr>
        <p:txBody>
          <a:bodyPr/>
          <a:lstStyle/>
          <a:p>
            <a:r>
              <a:rPr lang="en-US" dirty="0"/>
              <a:t>DRiV Tower vs G Service Line Mappings – By Application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802D53B-E5BB-49AC-BA17-7300060F59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370546"/>
              </p:ext>
            </p:extLst>
          </p:nvPr>
        </p:nvGraphicFramePr>
        <p:xfrm>
          <a:off x="381000" y="533400"/>
          <a:ext cx="115824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51145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A657D-4B10-4FBA-8DF5-DD5EF7EF02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6554" y="317383"/>
            <a:ext cx="10969256" cy="533400"/>
          </a:xfrm>
        </p:spPr>
        <p:txBody>
          <a:bodyPr/>
          <a:lstStyle/>
          <a:p>
            <a:r>
              <a:rPr lang="en-US" dirty="0"/>
              <a:t>Application Mapping by Apps Criticality - Service Lines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A3FF4E-8E71-4C89-BDBF-F39ED71566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9437910"/>
              </p:ext>
            </p:extLst>
          </p:nvPr>
        </p:nvGraphicFramePr>
        <p:xfrm>
          <a:off x="496554" y="838200"/>
          <a:ext cx="11695446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D05E2A-3677-4F3D-9360-52EAEFC4698F}"/>
              </a:ext>
            </a:extLst>
          </p:cNvPr>
          <p:cNvSpPr txBox="1"/>
          <p:nvPr/>
        </p:nvSpPr>
        <p:spPr>
          <a:xfrm>
            <a:off x="11234039" y="2819400"/>
            <a:ext cx="129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Application Criticality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37A0E8-E731-4A78-AAEB-E9D9DFCF2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66966"/>
              </p:ext>
            </p:extLst>
          </p:nvPr>
        </p:nvGraphicFramePr>
        <p:xfrm>
          <a:off x="5486400" y="1219200"/>
          <a:ext cx="4419600" cy="2888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423548950"/>
                    </a:ext>
                  </a:extLst>
                </a:gridCol>
              </a:tblGrid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Engineering – </a:t>
                      </a:r>
                      <a:r>
                        <a:rPr lang="en-US" sz="800" u="none" strike="noStrike" dirty="0">
                          <a:effectLst/>
                        </a:rPr>
                        <a:t>Apps like AutoCAD, 3D systems </a:t>
                      </a:r>
                      <a:r>
                        <a:rPr lang="en-US" sz="800" u="none" strike="noStrike" dirty="0" err="1">
                          <a:effectLst/>
                        </a:rPr>
                        <a:t>etc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791407078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Microsoft – </a:t>
                      </a:r>
                      <a:r>
                        <a:rPr lang="en-US" sz="800" b="0" u="none" strike="noStrike" dirty="0">
                          <a:effectLst/>
                        </a:rPr>
                        <a:t>Custom build Microsoft based applications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809924558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SAP – </a:t>
                      </a:r>
                      <a:r>
                        <a:rPr lang="en-US" sz="800" b="0" u="none" strike="noStrike" dirty="0">
                          <a:effectLst/>
                        </a:rPr>
                        <a:t>All SAP apps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562654907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Java – </a:t>
                      </a:r>
                      <a:r>
                        <a:rPr lang="en-US" sz="800" b="0" u="none" strike="noStrike" dirty="0">
                          <a:effectLst/>
                        </a:rPr>
                        <a:t>Custom build Java based applications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425159986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pl-PL" sz="800" b="1" u="none" strike="noStrike" dirty="0">
                          <a:effectLst/>
                        </a:rPr>
                        <a:t>ADM Legacy - </a:t>
                      </a:r>
                      <a:r>
                        <a:rPr lang="pl-PL" sz="800" b="0" u="none" strike="noStrike" dirty="0">
                          <a:effectLst/>
                        </a:rPr>
                        <a:t>Package S/W</a:t>
                      </a:r>
                      <a:r>
                        <a:rPr lang="en-US" sz="800" b="0" u="none" strike="noStrike" dirty="0">
                          <a:effectLst/>
                        </a:rPr>
                        <a:t> – Package 3</a:t>
                      </a:r>
                      <a:r>
                        <a:rPr lang="en-US" sz="800" b="0" u="none" strike="noStrike" baseline="30000" dirty="0">
                          <a:effectLst/>
                        </a:rPr>
                        <a:t>rd</a:t>
                      </a:r>
                      <a:r>
                        <a:rPr lang="en-US" sz="800" b="0" u="none" strike="noStrike" dirty="0">
                          <a:effectLst/>
                        </a:rPr>
                        <a:t> Party software</a:t>
                      </a:r>
                      <a:endParaRPr lang="pl-PL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06968431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ERP Microsoft – </a:t>
                      </a:r>
                      <a:r>
                        <a:rPr lang="en-US" sz="800" b="0" u="none" strike="noStrike" dirty="0">
                          <a:effectLst/>
                        </a:rPr>
                        <a:t>Non SAP ERP Systems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766147266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DE – </a:t>
                      </a:r>
                      <a:r>
                        <a:rPr lang="en-US" sz="800" b="0" u="none" strike="noStrike" dirty="0">
                          <a:effectLst/>
                        </a:rPr>
                        <a:t>All Data engineering apps and databases also includes analytics like Google Analytics etc.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461693171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ITMS – </a:t>
                      </a:r>
                      <a:r>
                        <a:rPr lang="en-US" sz="800" b="0" u="none" strike="noStrike" dirty="0">
                          <a:effectLst/>
                        </a:rPr>
                        <a:t>Few tools ITMS will support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078094387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ERP Java – </a:t>
                      </a:r>
                      <a:r>
                        <a:rPr lang="en-US" sz="800" b="0" u="none" strike="noStrike" dirty="0">
                          <a:effectLst/>
                        </a:rPr>
                        <a:t>Java based ERP systems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022152982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Oracle – </a:t>
                      </a:r>
                      <a:r>
                        <a:rPr lang="en-US" sz="800" b="0" u="none" strike="noStrike" dirty="0">
                          <a:effectLst/>
                        </a:rPr>
                        <a:t>Custom oracle apps, forms etc.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576161165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pl-PL" sz="800" b="1" u="none" strike="noStrike" dirty="0">
                          <a:effectLst/>
                        </a:rPr>
                        <a:t>ADM ERP - Package S/W</a:t>
                      </a:r>
                      <a:r>
                        <a:rPr lang="en-US" sz="800" b="1" u="none" strike="noStrike" dirty="0">
                          <a:effectLst/>
                        </a:rPr>
                        <a:t> – </a:t>
                      </a:r>
                      <a:r>
                        <a:rPr lang="en-US" sz="800" b="0" u="none" strike="noStrike" dirty="0">
                          <a:effectLst/>
                        </a:rPr>
                        <a:t>ERP 3</a:t>
                      </a:r>
                      <a:r>
                        <a:rPr lang="en-US" sz="800" b="0" u="none" strike="noStrike" baseline="30000" dirty="0">
                          <a:effectLst/>
                        </a:rPr>
                        <a:t>rd</a:t>
                      </a:r>
                      <a:r>
                        <a:rPr lang="en-US" sz="800" b="0" u="none" strike="noStrike" dirty="0">
                          <a:effectLst/>
                        </a:rPr>
                        <a:t> party apps</a:t>
                      </a:r>
                      <a:endParaRPr lang="pl-PL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1988784862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ERP Mainframe – </a:t>
                      </a:r>
                      <a:r>
                        <a:rPr lang="en-US" sz="800" b="0" u="none" strike="noStrike" dirty="0">
                          <a:effectLst/>
                        </a:rPr>
                        <a:t>ERP Mainframes systems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3297624073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SaaS – </a:t>
                      </a:r>
                      <a:r>
                        <a:rPr lang="en-US" sz="800" b="0" u="none" strike="noStrike" dirty="0">
                          <a:effectLst/>
                        </a:rPr>
                        <a:t>SaaS based 3</a:t>
                      </a:r>
                      <a:r>
                        <a:rPr lang="en-US" sz="800" b="0" u="none" strike="noStrike" baseline="30000" dirty="0">
                          <a:effectLst/>
                        </a:rPr>
                        <a:t>rd</a:t>
                      </a:r>
                      <a:r>
                        <a:rPr lang="en-US" sz="800" b="0" u="none" strike="noStrike" dirty="0">
                          <a:effectLst/>
                        </a:rPr>
                        <a:t> party apps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4272338253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Legacy – </a:t>
                      </a:r>
                      <a:r>
                        <a:rPr lang="en-US" sz="800" b="0" u="none" strike="noStrike" dirty="0">
                          <a:effectLst/>
                        </a:rPr>
                        <a:t>Legacy apps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373652822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UI/UX – </a:t>
                      </a:r>
                      <a:r>
                        <a:rPr lang="en-US" sz="800" b="0" u="none" strike="noStrike" dirty="0">
                          <a:effectLst/>
                        </a:rPr>
                        <a:t>Apps like AEM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349129555"/>
                  </a:ext>
                </a:extLst>
              </a:tr>
              <a:tr h="18055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u="none" strike="noStrike" dirty="0">
                          <a:effectLst/>
                        </a:rPr>
                        <a:t>ADM Mainframe – </a:t>
                      </a:r>
                      <a:r>
                        <a:rPr lang="en-US" sz="800" b="0" u="none" strike="noStrike" dirty="0">
                          <a:effectLst/>
                        </a:rPr>
                        <a:t>Mainframes based apps</a:t>
                      </a:r>
                      <a:endParaRPr lang="en-US" sz="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b"/>
                </a:tc>
                <a:extLst>
                  <a:ext uri="{0D108BD9-81ED-4DB2-BD59-A6C34878D82A}">
                    <a16:rowId xmlns:a16="http://schemas.microsoft.com/office/drawing/2014/main" val="2058994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18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A657D-4B10-4FBA-8DF5-DD5EF7EF02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6554" y="317383"/>
            <a:ext cx="10969256" cy="533400"/>
          </a:xfrm>
        </p:spPr>
        <p:txBody>
          <a:bodyPr/>
          <a:lstStyle/>
          <a:p>
            <a:r>
              <a:rPr lang="en-US" dirty="0"/>
              <a:t>Application Mapping by Criticality - Service Lines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4EC9B2-CFDE-466A-96CA-9E187D2B7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5235"/>
              </p:ext>
            </p:extLst>
          </p:nvPr>
        </p:nvGraphicFramePr>
        <p:xfrm>
          <a:off x="534304" y="990600"/>
          <a:ext cx="11125200" cy="4153924"/>
        </p:xfrm>
        <a:graphic>
          <a:graphicData uri="http://schemas.openxmlformats.org/drawingml/2006/table">
            <a:tbl>
              <a:tblPr/>
              <a:tblGrid>
                <a:gridCol w="2666096">
                  <a:extLst>
                    <a:ext uri="{9D8B030D-6E8A-4147-A177-3AD203B41FA5}">
                      <a16:colId xmlns:a16="http://schemas.microsoft.com/office/drawing/2014/main" val="3730344318"/>
                    </a:ext>
                  </a:extLst>
                </a:gridCol>
                <a:gridCol w="2189935">
                  <a:extLst>
                    <a:ext uri="{9D8B030D-6E8A-4147-A177-3AD203B41FA5}">
                      <a16:colId xmlns:a16="http://schemas.microsoft.com/office/drawing/2014/main" val="2876238282"/>
                    </a:ext>
                  </a:extLst>
                </a:gridCol>
                <a:gridCol w="1258973">
                  <a:extLst>
                    <a:ext uri="{9D8B030D-6E8A-4147-A177-3AD203B41FA5}">
                      <a16:colId xmlns:a16="http://schemas.microsoft.com/office/drawing/2014/main" val="3671205890"/>
                    </a:ext>
                  </a:extLst>
                </a:gridCol>
                <a:gridCol w="1258973">
                  <a:extLst>
                    <a:ext uri="{9D8B030D-6E8A-4147-A177-3AD203B41FA5}">
                      <a16:colId xmlns:a16="http://schemas.microsoft.com/office/drawing/2014/main" val="1911371405"/>
                    </a:ext>
                  </a:extLst>
                </a:gridCol>
                <a:gridCol w="1258973">
                  <a:extLst>
                    <a:ext uri="{9D8B030D-6E8A-4147-A177-3AD203B41FA5}">
                      <a16:colId xmlns:a16="http://schemas.microsoft.com/office/drawing/2014/main" val="2528943537"/>
                    </a:ext>
                  </a:extLst>
                </a:gridCol>
                <a:gridCol w="1258973">
                  <a:extLst>
                    <a:ext uri="{9D8B030D-6E8A-4147-A177-3AD203B41FA5}">
                      <a16:colId xmlns:a16="http://schemas.microsoft.com/office/drawing/2014/main" val="2017739627"/>
                    </a:ext>
                  </a:extLst>
                </a:gridCol>
                <a:gridCol w="1233277">
                  <a:extLst>
                    <a:ext uri="{9D8B030D-6E8A-4147-A177-3AD203B41FA5}">
                      <a16:colId xmlns:a16="http://schemas.microsoft.com/office/drawing/2014/main" val="206401065"/>
                    </a:ext>
                  </a:extLst>
                </a:gridCol>
              </a:tblGrid>
              <a:tr h="61728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Service Lines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High</a:t>
                      </a:r>
                    </a:p>
                  </a:txBody>
                  <a:tcPr marL="6721" marR="6721" marT="6721" marB="32262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Low</a:t>
                      </a:r>
                    </a:p>
                  </a:txBody>
                  <a:tcPr marL="6721" marR="6721" marT="6721" marB="32262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Medium</a:t>
                      </a:r>
                    </a:p>
                  </a:txBody>
                  <a:tcPr marL="6721" marR="6721" marT="6721" marB="32262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No Criticality defined</a:t>
                      </a:r>
                    </a:p>
                  </a:txBody>
                  <a:tcPr marL="6721" marR="6721" marT="6721" marB="32262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721" marR="6721" marT="6721" marB="3226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 %</a:t>
                      </a:r>
                    </a:p>
                  </a:txBody>
                  <a:tcPr marL="6721" marR="6721" marT="6721" marB="32262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678169"/>
                  </a:ext>
                </a:extLst>
              </a:tr>
              <a:tr h="13123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Engineering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57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35%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39595"/>
                  </a:ext>
                </a:extLst>
              </a:tr>
              <a:tr h="13123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Microsoft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29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13%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107262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SAP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19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27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12%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999964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Java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26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11%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315042"/>
                  </a:ext>
                </a:extLst>
              </a:tr>
              <a:tr h="230667">
                <a:tc>
                  <a:txBody>
                    <a:bodyPr/>
                    <a:lstStyle/>
                    <a:p>
                      <a:pPr algn="l" fontAlgn="b"/>
                      <a:r>
                        <a:rPr lang="pl-PL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Legacy - Package S/W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550938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ERP Microsoft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996104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DE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693545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ITMS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2165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ERP Java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382855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Oracle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76137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pl-PL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ERP - Package S/W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24986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ERP Mainframe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754888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SaaS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47221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Legacy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940482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UI/UX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875641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ADM Mainframe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0%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646955"/>
                  </a:ext>
                </a:extLst>
              </a:tr>
              <a:tr h="15875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F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73262"/>
                          </a:solidFill>
                          <a:effectLst/>
                          <a:latin typeface="+mj-lt"/>
                        </a:rPr>
                        <a:t>231</a:t>
                      </a: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9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721" marR="6721" marT="6721" marB="32262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58841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C12F14C-EC74-491B-AA33-2D1BE9FF8CAE}"/>
              </a:ext>
            </a:extLst>
          </p:cNvPr>
          <p:cNvSpPr txBox="1"/>
          <p:nvPr/>
        </p:nvSpPr>
        <p:spPr>
          <a:xfrm>
            <a:off x="2133600" y="5455760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35% of the apps are engineering applications, followed by ADM Microsoft &amp; SAP</a:t>
            </a:r>
          </a:p>
        </p:txBody>
      </p:sp>
    </p:spTree>
    <p:extLst>
      <p:ext uri="{BB962C8B-B14F-4D97-AF65-F5344CB8AC3E}">
        <p14:creationId xmlns:p14="http://schemas.microsoft.com/office/powerpoint/2010/main" val="121552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8A657D-4B10-4FBA-8DF5-DD5EF7EF02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6554" y="317383"/>
            <a:ext cx="10969256" cy="533400"/>
          </a:xfrm>
        </p:spPr>
        <p:txBody>
          <a:bodyPr/>
          <a:lstStyle/>
          <a:p>
            <a:r>
              <a:rPr lang="en-US" dirty="0"/>
              <a:t>Annual Incidents by Service Lines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CF23A12-F9F1-49DE-A259-380D1DF9E0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830659"/>
              </p:ext>
            </p:extLst>
          </p:nvPr>
        </p:nvGraphicFramePr>
        <p:xfrm>
          <a:off x="609600" y="1371600"/>
          <a:ext cx="11353801" cy="421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4312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B56019-95AF-4282-A4AE-747350E39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0744" y="457201"/>
            <a:ext cx="9750056" cy="533400"/>
          </a:xfrm>
        </p:spPr>
        <p:txBody>
          <a:bodyPr/>
          <a:lstStyle/>
          <a:p>
            <a:r>
              <a:rPr lang="en-US" dirty="0"/>
              <a:t>Current Support Resource Count by Towers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2AEA95-42F2-4778-9F14-C4493CDC3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839012"/>
              </p:ext>
            </p:extLst>
          </p:nvPr>
        </p:nvGraphicFramePr>
        <p:xfrm>
          <a:off x="460744" y="1524000"/>
          <a:ext cx="10976448" cy="3526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7497">
                  <a:extLst>
                    <a:ext uri="{9D8B030D-6E8A-4147-A177-3AD203B41FA5}">
                      <a16:colId xmlns:a16="http://schemas.microsoft.com/office/drawing/2014/main" val="3531407092"/>
                    </a:ext>
                  </a:extLst>
                </a:gridCol>
                <a:gridCol w="763068">
                  <a:extLst>
                    <a:ext uri="{9D8B030D-6E8A-4147-A177-3AD203B41FA5}">
                      <a16:colId xmlns:a16="http://schemas.microsoft.com/office/drawing/2014/main" val="3847069269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1285128434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3272666812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17343467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4278433822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1047377652"/>
                    </a:ext>
                  </a:extLst>
                </a:gridCol>
                <a:gridCol w="547844">
                  <a:extLst>
                    <a:ext uri="{9D8B030D-6E8A-4147-A177-3AD203B41FA5}">
                      <a16:colId xmlns:a16="http://schemas.microsoft.com/office/drawing/2014/main" val="2345807821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2032409258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3684877602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3656968446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3465820336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339553905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4089512652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3172771723"/>
                    </a:ext>
                  </a:extLst>
                </a:gridCol>
                <a:gridCol w="450015">
                  <a:extLst>
                    <a:ext uri="{9D8B030D-6E8A-4147-A177-3AD203B41FA5}">
                      <a16:colId xmlns:a16="http://schemas.microsoft.com/office/drawing/2014/main" val="791803399"/>
                    </a:ext>
                  </a:extLst>
                </a:gridCol>
                <a:gridCol w="547844">
                  <a:extLst>
                    <a:ext uri="{9D8B030D-6E8A-4147-A177-3AD203B41FA5}">
                      <a16:colId xmlns:a16="http://schemas.microsoft.com/office/drawing/2014/main" val="163092469"/>
                    </a:ext>
                  </a:extLst>
                </a:gridCol>
              </a:tblGrid>
              <a:tr h="1657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Towers</a:t>
                      </a: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Argentina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Belarus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Belgium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Belgium / Sint </a:t>
                      </a:r>
                      <a:r>
                        <a:rPr lang="en-US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Truiden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Brazil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China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India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Mexico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Poland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Poland / Gliwice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Romania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Spain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UK / Birmingham (Clean Air)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US / Southfield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Grand Total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vert="vert270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04059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BI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15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64426863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Corporate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13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19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10646159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Distribution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40837284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Engineering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15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1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19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16255054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Integration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23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13273888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Non-SAP ERP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16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79516458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Sales &amp; Marketing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17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28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1839681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SAP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69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91</a:t>
                      </a:r>
                      <a:endParaRPr 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51796599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Grand Total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>
                    <a:solidFill>
                      <a:schemeClr val="tx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133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16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223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229110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97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B56019-95AF-4282-A4AE-747350E39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8600" y="228600"/>
            <a:ext cx="9750056" cy="533400"/>
          </a:xfrm>
        </p:spPr>
        <p:txBody>
          <a:bodyPr/>
          <a:lstStyle/>
          <a:p>
            <a:r>
              <a:rPr lang="en-US" dirty="0"/>
              <a:t>SWOT Analysis SAP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32B5DAB-621A-4BAD-84CA-A362E0EEBF37}"/>
              </a:ext>
            </a:extLst>
          </p:cNvPr>
          <p:cNvGrpSpPr/>
          <p:nvPr/>
        </p:nvGrpSpPr>
        <p:grpSpPr>
          <a:xfrm>
            <a:off x="3941612" y="1936751"/>
            <a:ext cx="3366149" cy="3397249"/>
            <a:chOff x="1525588" y="565151"/>
            <a:chExt cx="5842001" cy="5895975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A85D0406-C728-47D7-94B0-C687F0446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538" y="565151"/>
              <a:ext cx="2690813" cy="4194175"/>
            </a:xfrm>
            <a:custGeom>
              <a:avLst/>
              <a:gdLst>
                <a:gd name="T0" fmla="*/ 552 w 716"/>
                <a:gd name="T1" fmla="*/ 328 h 1116"/>
                <a:gd name="T2" fmla="*/ 622 w 716"/>
                <a:gd name="T3" fmla="*/ 346 h 1116"/>
                <a:gd name="T4" fmla="*/ 681 w 716"/>
                <a:gd name="T5" fmla="*/ 288 h 1116"/>
                <a:gd name="T6" fmla="*/ 668 w 716"/>
                <a:gd name="T7" fmla="*/ 222 h 1116"/>
                <a:gd name="T8" fmla="*/ 220 w 716"/>
                <a:gd name="T9" fmla="*/ 124 h 1116"/>
                <a:gd name="T10" fmla="*/ 62 w 716"/>
                <a:gd name="T11" fmla="*/ 509 h 1116"/>
                <a:gd name="T12" fmla="*/ 175 w 716"/>
                <a:gd name="T13" fmla="*/ 682 h 1116"/>
                <a:gd name="T14" fmla="*/ 549 w 716"/>
                <a:gd name="T15" fmla="*/ 1058 h 1116"/>
                <a:gd name="T16" fmla="*/ 626 w 716"/>
                <a:gd name="T17" fmla="*/ 1075 h 1116"/>
                <a:gd name="T18" fmla="*/ 679 w 716"/>
                <a:gd name="T19" fmla="*/ 1025 h 1116"/>
                <a:gd name="T20" fmla="*/ 674 w 716"/>
                <a:gd name="T21" fmla="*/ 961 h 1116"/>
                <a:gd name="T22" fmla="*/ 253 w 716"/>
                <a:gd name="T23" fmla="*/ 539 h 1116"/>
                <a:gd name="T24" fmla="*/ 253 w 716"/>
                <a:gd name="T25" fmla="*/ 296 h 1116"/>
                <a:gd name="T26" fmla="*/ 552 w 716"/>
                <a:gd name="T27" fmla="*/ 328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6" h="1116">
                  <a:moveTo>
                    <a:pt x="552" y="328"/>
                  </a:moveTo>
                  <a:cubicBezTo>
                    <a:pt x="552" y="328"/>
                    <a:pt x="582" y="382"/>
                    <a:pt x="622" y="346"/>
                  </a:cubicBezTo>
                  <a:cubicBezTo>
                    <a:pt x="662" y="309"/>
                    <a:pt x="681" y="288"/>
                    <a:pt x="681" y="288"/>
                  </a:cubicBezTo>
                  <a:cubicBezTo>
                    <a:pt x="681" y="288"/>
                    <a:pt x="716" y="266"/>
                    <a:pt x="668" y="222"/>
                  </a:cubicBezTo>
                  <a:cubicBezTo>
                    <a:pt x="620" y="178"/>
                    <a:pt x="472" y="0"/>
                    <a:pt x="220" y="124"/>
                  </a:cubicBezTo>
                  <a:cubicBezTo>
                    <a:pt x="220" y="124"/>
                    <a:pt x="0" y="248"/>
                    <a:pt x="62" y="509"/>
                  </a:cubicBezTo>
                  <a:cubicBezTo>
                    <a:pt x="62" y="509"/>
                    <a:pt x="85" y="597"/>
                    <a:pt x="175" y="682"/>
                  </a:cubicBezTo>
                  <a:cubicBezTo>
                    <a:pt x="265" y="767"/>
                    <a:pt x="549" y="1058"/>
                    <a:pt x="549" y="1058"/>
                  </a:cubicBezTo>
                  <a:cubicBezTo>
                    <a:pt x="549" y="1058"/>
                    <a:pt x="581" y="1116"/>
                    <a:pt x="626" y="1075"/>
                  </a:cubicBezTo>
                  <a:cubicBezTo>
                    <a:pt x="670" y="1034"/>
                    <a:pt x="679" y="1025"/>
                    <a:pt x="679" y="1025"/>
                  </a:cubicBezTo>
                  <a:cubicBezTo>
                    <a:pt x="679" y="1025"/>
                    <a:pt x="714" y="1000"/>
                    <a:pt x="674" y="961"/>
                  </a:cubicBezTo>
                  <a:cubicBezTo>
                    <a:pt x="635" y="922"/>
                    <a:pt x="253" y="539"/>
                    <a:pt x="253" y="539"/>
                  </a:cubicBezTo>
                  <a:cubicBezTo>
                    <a:pt x="253" y="539"/>
                    <a:pt x="153" y="417"/>
                    <a:pt x="253" y="296"/>
                  </a:cubicBezTo>
                  <a:cubicBezTo>
                    <a:pt x="253" y="296"/>
                    <a:pt x="402" y="150"/>
                    <a:pt x="552" y="328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</a:sysClr>
            </a:solidFill>
            <a:ln w="142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1C686B55-3111-4784-A0AC-E07EAD8CC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176" y="681038"/>
              <a:ext cx="4189413" cy="2698750"/>
            </a:xfrm>
            <a:custGeom>
              <a:avLst/>
              <a:gdLst>
                <a:gd name="T0" fmla="*/ 788 w 1115"/>
                <a:gd name="T1" fmla="*/ 552 h 718"/>
                <a:gd name="T2" fmla="*/ 771 w 1115"/>
                <a:gd name="T3" fmla="*/ 623 h 718"/>
                <a:gd name="T4" fmla="*/ 828 w 1115"/>
                <a:gd name="T5" fmla="*/ 681 h 718"/>
                <a:gd name="T6" fmla="*/ 895 w 1115"/>
                <a:gd name="T7" fmla="*/ 667 h 718"/>
                <a:gd name="T8" fmla="*/ 990 w 1115"/>
                <a:gd name="T9" fmla="*/ 219 h 718"/>
                <a:gd name="T10" fmla="*/ 604 w 1115"/>
                <a:gd name="T11" fmla="*/ 64 h 718"/>
                <a:gd name="T12" fmla="*/ 431 w 1115"/>
                <a:gd name="T13" fmla="*/ 178 h 718"/>
                <a:gd name="T14" fmla="*/ 57 w 1115"/>
                <a:gd name="T15" fmla="*/ 554 h 718"/>
                <a:gd name="T16" fmla="*/ 41 w 1115"/>
                <a:gd name="T17" fmla="*/ 631 h 718"/>
                <a:gd name="T18" fmla="*/ 92 w 1115"/>
                <a:gd name="T19" fmla="*/ 684 h 718"/>
                <a:gd name="T20" fmla="*/ 156 w 1115"/>
                <a:gd name="T21" fmla="*/ 679 h 718"/>
                <a:gd name="T22" fmla="*/ 575 w 1115"/>
                <a:gd name="T23" fmla="*/ 255 h 718"/>
                <a:gd name="T24" fmla="*/ 818 w 1115"/>
                <a:gd name="T25" fmla="*/ 253 h 718"/>
                <a:gd name="T26" fmla="*/ 788 w 1115"/>
                <a:gd name="T27" fmla="*/ 55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5" h="718">
                  <a:moveTo>
                    <a:pt x="788" y="552"/>
                  </a:moveTo>
                  <a:cubicBezTo>
                    <a:pt x="788" y="552"/>
                    <a:pt x="734" y="583"/>
                    <a:pt x="771" y="623"/>
                  </a:cubicBezTo>
                  <a:cubicBezTo>
                    <a:pt x="808" y="663"/>
                    <a:pt x="828" y="681"/>
                    <a:pt x="828" y="681"/>
                  </a:cubicBezTo>
                  <a:cubicBezTo>
                    <a:pt x="828" y="681"/>
                    <a:pt x="851" y="716"/>
                    <a:pt x="895" y="667"/>
                  </a:cubicBezTo>
                  <a:cubicBezTo>
                    <a:pt x="939" y="619"/>
                    <a:pt x="1115" y="471"/>
                    <a:pt x="990" y="219"/>
                  </a:cubicBezTo>
                  <a:cubicBezTo>
                    <a:pt x="990" y="219"/>
                    <a:pt x="864" y="0"/>
                    <a:pt x="604" y="64"/>
                  </a:cubicBezTo>
                  <a:cubicBezTo>
                    <a:pt x="604" y="64"/>
                    <a:pt x="516" y="87"/>
                    <a:pt x="431" y="178"/>
                  </a:cubicBezTo>
                  <a:cubicBezTo>
                    <a:pt x="347" y="268"/>
                    <a:pt x="57" y="554"/>
                    <a:pt x="57" y="554"/>
                  </a:cubicBezTo>
                  <a:cubicBezTo>
                    <a:pt x="57" y="554"/>
                    <a:pt x="0" y="587"/>
                    <a:pt x="41" y="631"/>
                  </a:cubicBezTo>
                  <a:cubicBezTo>
                    <a:pt x="83" y="675"/>
                    <a:pt x="92" y="684"/>
                    <a:pt x="92" y="684"/>
                  </a:cubicBezTo>
                  <a:cubicBezTo>
                    <a:pt x="92" y="684"/>
                    <a:pt x="117" y="718"/>
                    <a:pt x="156" y="679"/>
                  </a:cubicBezTo>
                  <a:cubicBezTo>
                    <a:pt x="195" y="639"/>
                    <a:pt x="575" y="255"/>
                    <a:pt x="575" y="255"/>
                  </a:cubicBezTo>
                  <a:cubicBezTo>
                    <a:pt x="575" y="255"/>
                    <a:pt x="696" y="154"/>
                    <a:pt x="818" y="253"/>
                  </a:cubicBezTo>
                  <a:cubicBezTo>
                    <a:pt x="818" y="253"/>
                    <a:pt x="964" y="402"/>
                    <a:pt x="788" y="552"/>
                  </a:cubicBezTo>
                  <a:close/>
                </a:path>
              </a:pathLst>
            </a:custGeom>
            <a:solidFill>
              <a:srgbClr val="E33836"/>
            </a:solidFill>
            <a:ln w="142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B65EC472-9DF4-4EB1-AE7C-36D2C08A9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051" y="2266951"/>
              <a:ext cx="2689225" cy="4194175"/>
            </a:xfrm>
            <a:custGeom>
              <a:avLst/>
              <a:gdLst>
                <a:gd name="T0" fmla="*/ 164 w 716"/>
                <a:gd name="T1" fmla="*/ 789 h 1116"/>
                <a:gd name="T2" fmla="*/ 93 w 716"/>
                <a:gd name="T3" fmla="*/ 771 h 1116"/>
                <a:gd name="T4" fmla="*/ 35 w 716"/>
                <a:gd name="T5" fmla="*/ 828 h 1116"/>
                <a:gd name="T6" fmla="*/ 48 w 716"/>
                <a:gd name="T7" fmla="*/ 895 h 1116"/>
                <a:gd name="T8" fmla="*/ 495 w 716"/>
                <a:gd name="T9" fmla="*/ 993 h 1116"/>
                <a:gd name="T10" fmla="*/ 653 w 716"/>
                <a:gd name="T11" fmla="*/ 608 h 1116"/>
                <a:gd name="T12" fmla="*/ 541 w 716"/>
                <a:gd name="T13" fmla="*/ 435 h 1116"/>
                <a:gd name="T14" fmla="*/ 167 w 716"/>
                <a:gd name="T15" fmla="*/ 58 h 1116"/>
                <a:gd name="T16" fmla="*/ 90 w 716"/>
                <a:gd name="T17" fmla="*/ 42 h 1116"/>
                <a:gd name="T18" fmla="*/ 37 w 716"/>
                <a:gd name="T19" fmla="*/ 92 h 1116"/>
                <a:gd name="T20" fmla="*/ 41 w 716"/>
                <a:gd name="T21" fmla="*/ 156 h 1116"/>
                <a:gd name="T22" fmla="*/ 463 w 716"/>
                <a:gd name="T23" fmla="*/ 578 h 1116"/>
                <a:gd name="T24" fmla="*/ 463 w 716"/>
                <a:gd name="T25" fmla="*/ 821 h 1116"/>
                <a:gd name="T26" fmla="*/ 164 w 716"/>
                <a:gd name="T27" fmla="*/ 789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6" h="1116">
                  <a:moveTo>
                    <a:pt x="164" y="789"/>
                  </a:moveTo>
                  <a:cubicBezTo>
                    <a:pt x="164" y="789"/>
                    <a:pt x="133" y="734"/>
                    <a:pt x="93" y="771"/>
                  </a:cubicBezTo>
                  <a:cubicBezTo>
                    <a:pt x="53" y="808"/>
                    <a:pt x="35" y="828"/>
                    <a:pt x="35" y="828"/>
                  </a:cubicBezTo>
                  <a:cubicBezTo>
                    <a:pt x="35" y="828"/>
                    <a:pt x="0" y="851"/>
                    <a:pt x="48" y="895"/>
                  </a:cubicBezTo>
                  <a:cubicBezTo>
                    <a:pt x="96" y="939"/>
                    <a:pt x="243" y="1116"/>
                    <a:pt x="495" y="993"/>
                  </a:cubicBezTo>
                  <a:cubicBezTo>
                    <a:pt x="495" y="993"/>
                    <a:pt x="716" y="869"/>
                    <a:pt x="653" y="608"/>
                  </a:cubicBezTo>
                  <a:cubicBezTo>
                    <a:pt x="653" y="608"/>
                    <a:pt x="631" y="520"/>
                    <a:pt x="541" y="435"/>
                  </a:cubicBezTo>
                  <a:cubicBezTo>
                    <a:pt x="451" y="350"/>
                    <a:pt x="167" y="58"/>
                    <a:pt x="167" y="58"/>
                  </a:cubicBezTo>
                  <a:cubicBezTo>
                    <a:pt x="167" y="58"/>
                    <a:pt x="135" y="0"/>
                    <a:pt x="90" y="42"/>
                  </a:cubicBezTo>
                  <a:cubicBezTo>
                    <a:pt x="45" y="83"/>
                    <a:pt x="37" y="92"/>
                    <a:pt x="37" y="92"/>
                  </a:cubicBezTo>
                  <a:cubicBezTo>
                    <a:pt x="37" y="92"/>
                    <a:pt x="2" y="116"/>
                    <a:pt x="41" y="156"/>
                  </a:cubicBezTo>
                  <a:cubicBezTo>
                    <a:pt x="81" y="195"/>
                    <a:pt x="463" y="578"/>
                    <a:pt x="463" y="578"/>
                  </a:cubicBezTo>
                  <a:cubicBezTo>
                    <a:pt x="463" y="578"/>
                    <a:pt x="563" y="700"/>
                    <a:pt x="463" y="821"/>
                  </a:cubicBezTo>
                  <a:cubicBezTo>
                    <a:pt x="463" y="821"/>
                    <a:pt x="313" y="966"/>
                    <a:pt x="164" y="789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42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E72A80E7-ABAB-4B9D-8677-38B04618D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8" y="3630613"/>
              <a:ext cx="4192588" cy="2703513"/>
            </a:xfrm>
            <a:custGeom>
              <a:avLst/>
              <a:gdLst>
                <a:gd name="T0" fmla="*/ 327 w 1116"/>
                <a:gd name="T1" fmla="*/ 167 h 719"/>
                <a:gd name="T2" fmla="*/ 345 w 1116"/>
                <a:gd name="T3" fmla="*/ 96 h 719"/>
                <a:gd name="T4" fmla="*/ 287 w 1116"/>
                <a:gd name="T5" fmla="*/ 38 h 719"/>
                <a:gd name="T6" fmla="*/ 220 w 1116"/>
                <a:gd name="T7" fmla="*/ 51 h 719"/>
                <a:gd name="T8" fmla="*/ 125 w 1116"/>
                <a:gd name="T9" fmla="*/ 499 h 719"/>
                <a:gd name="T10" fmla="*/ 512 w 1116"/>
                <a:gd name="T11" fmla="*/ 655 h 719"/>
                <a:gd name="T12" fmla="*/ 684 w 1116"/>
                <a:gd name="T13" fmla="*/ 541 h 719"/>
                <a:gd name="T14" fmla="*/ 1058 w 1116"/>
                <a:gd name="T15" fmla="*/ 164 h 719"/>
                <a:gd name="T16" fmla="*/ 1074 w 1116"/>
                <a:gd name="T17" fmla="*/ 88 h 719"/>
                <a:gd name="T18" fmla="*/ 1024 w 1116"/>
                <a:gd name="T19" fmla="*/ 35 h 719"/>
                <a:gd name="T20" fmla="*/ 960 w 1116"/>
                <a:gd name="T21" fmla="*/ 40 h 719"/>
                <a:gd name="T22" fmla="*/ 540 w 1116"/>
                <a:gd name="T23" fmla="*/ 464 h 719"/>
                <a:gd name="T24" fmla="*/ 297 w 1116"/>
                <a:gd name="T25" fmla="*/ 465 h 719"/>
                <a:gd name="T26" fmla="*/ 327 w 1116"/>
                <a:gd name="T27" fmla="*/ 167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6" h="719">
                  <a:moveTo>
                    <a:pt x="327" y="167"/>
                  </a:moveTo>
                  <a:cubicBezTo>
                    <a:pt x="327" y="167"/>
                    <a:pt x="382" y="136"/>
                    <a:pt x="345" y="96"/>
                  </a:cubicBezTo>
                  <a:cubicBezTo>
                    <a:pt x="308" y="56"/>
                    <a:pt x="287" y="38"/>
                    <a:pt x="287" y="38"/>
                  </a:cubicBezTo>
                  <a:cubicBezTo>
                    <a:pt x="287" y="38"/>
                    <a:pt x="264" y="3"/>
                    <a:pt x="220" y="51"/>
                  </a:cubicBezTo>
                  <a:cubicBezTo>
                    <a:pt x="177" y="100"/>
                    <a:pt x="0" y="248"/>
                    <a:pt x="125" y="499"/>
                  </a:cubicBezTo>
                  <a:cubicBezTo>
                    <a:pt x="125" y="499"/>
                    <a:pt x="251" y="719"/>
                    <a:pt x="512" y="655"/>
                  </a:cubicBezTo>
                  <a:cubicBezTo>
                    <a:pt x="512" y="655"/>
                    <a:pt x="600" y="631"/>
                    <a:pt x="684" y="541"/>
                  </a:cubicBezTo>
                  <a:cubicBezTo>
                    <a:pt x="768" y="450"/>
                    <a:pt x="1058" y="164"/>
                    <a:pt x="1058" y="164"/>
                  </a:cubicBezTo>
                  <a:cubicBezTo>
                    <a:pt x="1058" y="164"/>
                    <a:pt x="1116" y="132"/>
                    <a:pt x="1074" y="88"/>
                  </a:cubicBezTo>
                  <a:cubicBezTo>
                    <a:pt x="1032" y="43"/>
                    <a:pt x="1024" y="35"/>
                    <a:pt x="1024" y="35"/>
                  </a:cubicBezTo>
                  <a:cubicBezTo>
                    <a:pt x="1024" y="35"/>
                    <a:pt x="999" y="0"/>
                    <a:pt x="960" y="40"/>
                  </a:cubicBezTo>
                  <a:cubicBezTo>
                    <a:pt x="921" y="79"/>
                    <a:pt x="540" y="464"/>
                    <a:pt x="540" y="464"/>
                  </a:cubicBezTo>
                  <a:cubicBezTo>
                    <a:pt x="540" y="464"/>
                    <a:pt x="419" y="565"/>
                    <a:pt x="297" y="465"/>
                  </a:cubicBezTo>
                  <a:cubicBezTo>
                    <a:pt x="297" y="465"/>
                    <a:pt x="151" y="317"/>
                    <a:pt x="327" y="167"/>
                  </a:cubicBezTo>
                  <a:close/>
                </a:path>
              </a:pathLst>
            </a:custGeom>
            <a:solidFill>
              <a:srgbClr val="E33836"/>
            </a:solidFill>
            <a:ln w="14288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4289533-72F4-4E3D-AC24-9CE47D49C00E}"/>
              </a:ext>
            </a:extLst>
          </p:cNvPr>
          <p:cNvGrpSpPr>
            <a:grpSpLocks noChangeAspect="1"/>
          </p:cNvGrpSpPr>
          <p:nvPr/>
        </p:nvGrpSpPr>
        <p:grpSpPr>
          <a:xfrm>
            <a:off x="4738355" y="2629628"/>
            <a:ext cx="360000" cy="360000"/>
            <a:chOff x="5919788" y="1438275"/>
            <a:chExt cx="750888" cy="750888"/>
          </a:xfrm>
          <a:solidFill>
            <a:sysClr val="window" lastClr="FFFFFF">
              <a:lumMod val="85000"/>
            </a:sysClr>
          </a:solidFill>
        </p:grpSpPr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272D4C5-2474-45EE-AAC0-44A3DE252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9501" y="1685925"/>
              <a:ext cx="198438" cy="198438"/>
            </a:xfrm>
            <a:custGeom>
              <a:avLst/>
              <a:gdLst>
                <a:gd name="T0" fmla="*/ 15 w 125"/>
                <a:gd name="T1" fmla="*/ 125 h 125"/>
                <a:gd name="T2" fmla="*/ 0 w 125"/>
                <a:gd name="T3" fmla="*/ 110 h 125"/>
                <a:gd name="T4" fmla="*/ 111 w 125"/>
                <a:gd name="T5" fmla="*/ 0 h 125"/>
                <a:gd name="T6" fmla="*/ 125 w 125"/>
                <a:gd name="T7" fmla="*/ 12 h 125"/>
                <a:gd name="T8" fmla="*/ 15 w 125"/>
                <a:gd name="T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5">
                  <a:moveTo>
                    <a:pt x="15" y="125"/>
                  </a:moveTo>
                  <a:lnTo>
                    <a:pt x="0" y="110"/>
                  </a:lnTo>
                  <a:lnTo>
                    <a:pt x="111" y="0"/>
                  </a:lnTo>
                  <a:lnTo>
                    <a:pt x="125" y="12"/>
                  </a:lnTo>
                  <a:lnTo>
                    <a:pt x="15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21BBF523-8D60-4FD6-9809-4CB321F06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4588" y="1751013"/>
              <a:ext cx="198438" cy="196850"/>
            </a:xfrm>
            <a:custGeom>
              <a:avLst/>
              <a:gdLst>
                <a:gd name="T0" fmla="*/ 15 w 125"/>
                <a:gd name="T1" fmla="*/ 124 h 124"/>
                <a:gd name="T2" fmla="*/ 0 w 125"/>
                <a:gd name="T3" fmla="*/ 110 h 124"/>
                <a:gd name="T4" fmla="*/ 113 w 125"/>
                <a:gd name="T5" fmla="*/ 0 h 124"/>
                <a:gd name="T6" fmla="*/ 125 w 125"/>
                <a:gd name="T7" fmla="*/ 14 h 124"/>
                <a:gd name="T8" fmla="*/ 15 w 125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" h="124">
                  <a:moveTo>
                    <a:pt x="15" y="124"/>
                  </a:moveTo>
                  <a:lnTo>
                    <a:pt x="0" y="110"/>
                  </a:lnTo>
                  <a:lnTo>
                    <a:pt x="113" y="0"/>
                  </a:lnTo>
                  <a:lnTo>
                    <a:pt x="125" y="14"/>
                  </a:lnTo>
                  <a:lnTo>
                    <a:pt x="15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FA83F38A-40D8-4BF0-AFF3-0FD40C214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5663" y="1838325"/>
              <a:ext cx="331788" cy="327025"/>
            </a:xfrm>
            <a:custGeom>
              <a:avLst/>
              <a:gdLst>
                <a:gd name="T0" fmla="*/ 70 w 87"/>
                <a:gd name="T1" fmla="*/ 86 h 86"/>
                <a:gd name="T2" fmla="*/ 59 w 87"/>
                <a:gd name="T3" fmla="*/ 81 h 86"/>
                <a:gd name="T4" fmla="*/ 7 w 87"/>
                <a:gd name="T5" fmla="*/ 29 h 86"/>
                <a:gd name="T6" fmla="*/ 7 w 87"/>
                <a:gd name="T7" fmla="*/ 6 h 86"/>
                <a:gd name="T8" fmla="*/ 30 w 87"/>
                <a:gd name="T9" fmla="*/ 6 h 86"/>
                <a:gd name="T10" fmla="*/ 82 w 87"/>
                <a:gd name="T11" fmla="*/ 58 h 86"/>
                <a:gd name="T12" fmla="*/ 87 w 87"/>
                <a:gd name="T13" fmla="*/ 70 h 86"/>
                <a:gd name="T14" fmla="*/ 82 w 87"/>
                <a:gd name="T15" fmla="*/ 81 h 86"/>
                <a:gd name="T16" fmla="*/ 70 w 87"/>
                <a:gd name="T17" fmla="*/ 86 h 86"/>
                <a:gd name="T18" fmla="*/ 18 w 87"/>
                <a:gd name="T19" fmla="*/ 9 h 86"/>
                <a:gd name="T20" fmla="*/ 12 w 87"/>
                <a:gd name="T21" fmla="*/ 12 h 86"/>
                <a:gd name="T22" fmla="*/ 12 w 87"/>
                <a:gd name="T23" fmla="*/ 23 h 86"/>
                <a:gd name="T24" fmla="*/ 65 w 87"/>
                <a:gd name="T25" fmla="*/ 76 h 86"/>
                <a:gd name="T26" fmla="*/ 76 w 87"/>
                <a:gd name="T27" fmla="*/ 76 h 86"/>
                <a:gd name="T28" fmla="*/ 79 w 87"/>
                <a:gd name="T29" fmla="*/ 70 h 86"/>
                <a:gd name="T30" fmla="*/ 76 w 87"/>
                <a:gd name="T31" fmla="*/ 64 h 86"/>
                <a:gd name="T32" fmla="*/ 24 w 87"/>
                <a:gd name="T33" fmla="*/ 12 h 86"/>
                <a:gd name="T34" fmla="*/ 18 w 87"/>
                <a:gd name="T35" fmla="*/ 9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7" h="86">
                  <a:moveTo>
                    <a:pt x="70" y="86"/>
                  </a:moveTo>
                  <a:cubicBezTo>
                    <a:pt x="66" y="86"/>
                    <a:pt x="62" y="85"/>
                    <a:pt x="59" y="81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0" y="23"/>
                    <a:pt x="0" y="12"/>
                    <a:pt x="7" y="6"/>
                  </a:cubicBezTo>
                  <a:cubicBezTo>
                    <a:pt x="13" y="0"/>
                    <a:pt x="24" y="0"/>
                    <a:pt x="30" y="6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5" y="61"/>
                    <a:pt x="87" y="65"/>
                    <a:pt x="87" y="70"/>
                  </a:cubicBezTo>
                  <a:cubicBezTo>
                    <a:pt x="87" y="74"/>
                    <a:pt x="85" y="78"/>
                    <a:pt x="82" y="81"/>
                  </a:cubicBezTo>
                  <a:cubicBezTo>
                    <a:pt x="79" y="85"/>
                    <a:pt x="75" y="86"/>
                    <a:pt x="70" y="86"/>
                  </a:cubicBezTo>
                  <a:close/>
                  <a:moveTo>
                    <a:pt x="18" y="9"/>
                  </a:moveTo>
                  <a:cubicBezTo>
                    <a:pt x="16" y="9"/>
                    <a:pt x="14" y="10"/>
                    <a:pt x="12" y="12"/>
                  </a:cubicBezTo>
                  <a:cubicBezTo>
                    <a:pt x="9" y="15"/>
                    <a:pt x="9" y="20"/>
                    <a:pt x="12" y="23"/>
                  </a:cubicBezTo>
                  <a:cubicBezTo>
                    <a:pt x="65" y="76"/>
                    <a:pt x="65" y="76"/>
                    <a:pt x="65" y="76"/>
                  </a:cubicBezTo>
                  <a:cubicBezTo>
                    <a:pt x="68" y="79"/>
                    <a:pt x="73" y="79"/>
                    <a:pt x="76" y="76"/>
                  </a:cubicBezTo>
                  <a:cubicBezTo>
                    <a:pt x="78" y="74"/>
                    <a:pt x="79" y="72"/>
                    <a:pt x="79" y="70"/>
                  </a:cubicBezTo>
                  <a:cubicBezTo>
                    <a:pt x="79" y="68"/>
                    <a:pt x="78" y="66"/>
                    <a:pt x="76" y="64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0"/>
                    <a:pt x="20" y="9"/>
                    <a:pt x="18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B15E8DAD-8362-4B69-B278-ED6A389DC5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57888" y="1727200"/>
              <a:ext cx="419100" cy="415925"/>
            </a:xfrm>
            <a:custGeom>
              <a:avLst/>
              <a:gdLst>
                <a:gd name="T0" fmla="*/ 93 w 110"/>
                <a:gd name="T1" fmla="*/ 109 h 109"/>
                <a:gd name="T2" fmla="*/ 82 w 110"/>
                <a:gd name="T3" fmla="*/ 105 h 109"/>
                <a:gd name="T4" fmla="*/ 6 w 110"/>
                <a:gd name="T5" fmla="*/ 29 h 109"/>
                <a:gd name="T6" fmla="*/ 6 w 110"/>
                <a:gd name="T7" fmla="*/ 6 h 109"/>
                <a:gd name="T8" fmla="*/ 30 w 110"/>
                <a:gd name="T9" fmla="*/ 6 h 109"/>
                <a:gd name="T10" fmla="*/ 105 w 110"/>
                <a:gd name="T11" fmla="*/ 81 h 109"/>
                <a:gd name="T12" fmla="*/ 110 w 110"/>
                <a:gd name="T13" fmla="*/ 93 h 109"/>
                <a:gd name="T14" fmla="*/ 105 w 110"/>
                <a:gd name="T15" fmla="*/ 105 h 109"/>
                <a:gd name="T16" fmla="*/ 93 w 110"/>
                <a:gd name="T17" fmla="*/ 109 h 109"/>
                <a:gd name="T18" fmla="*/ 18 w 110"/>
                <a:gd name="T19" fmla="*/ 9 h 109"/>
                <a:gd name="T20" fmla="*/ 12 w 110"/>
                <a:gd name="T21" fmla="*/ 12 h 109"/>
                <a:gd name="T22" fmla="*/ 12 w 110"/>
                <a:gd name="T23" fmla="*/ 23 h 109"/>
                <a:gd name="T24" fmla="*/ 88 w 110"/>
                <a:gd name="T25" fmla="*/ 99 h 109"/>
                <a:gd name="T26" fmla="*/ 99 w 110"/>
                <a:gd name="T27" fmla="*/ 99 h 109"/>
                <a:gd name="T28" fmla="*/ 102 w 110"/>
                <a:gd name="T29" fmla="*/ 93 h 109"/>
                <a:gd name="T30" fmla="*/ 99 w 110"/>
                <a:gd name="T31" fmla="*/ 87 h 109"/>
                <a:gd name="T32" fmla="*/ 24 w 110"/>
                <a:gd name="T33" fmla="*/ 12 h 109"/>
                <a:gd name="T34" fmla="*/ 18 w 110"/>
                <a:gd name="T35" fmla="*/ 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" h="109">
                  <a:moveTo>
                    <a:pt x="93" y="109"/>
                  </a:moveTo>
                  <a:cubicBezTo>
                    <a:pt x="89" y="109"/>
                    <a:pt x="85" y="108"/>
                    <a:pt x="82" y="105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0" y="23"/>
                    <a:pt x="0" y="12"/>
                    <a:pt x="6" y="6"/>
                  </a:cubicBezTo>
                  <a:cubicBezTo>
                    <a:pt x="13" y="0"/>
                    <a:pt x="23" y="0"/>
                    <a:pt x="30" y="6"/>
                  </a:cubicBezTo>
                  <a:cubicBezTo>
                    <a:pt x="105" y="81"/>
                    <a:pt x="105" y="81"/>
                    <a:pt x="105" y="81"/>
                  </a:cubicBezTo>
                  <a:cubicBezTo>
                    <a:pt x="108" y="84"/>
                    <a:pt x="110" y="89"/>
                    <a:pt x="110" y="93"/>
                  </a:cubicBezTo>
                  <a:cubicBezTo>
                    <a:pt x="110" y="97"/>
                    <a:pt x="108" y="101"/>
                    <a:pt x="105" y="105"/>
                  </a:cubicBezTo>
                  <a:cubicBezTo>
                    <a:pt x="102" y="108"/>
                    <a:pt x="98" y="109"/>
                    <a:pt x="93" y="109"/>
                  </a:cubicBezTo>
                  <a:close/>
                  <a:moveTo>
                    <a:pt x="18" y="9"/>
                  </a:moveTo>
                  <a:cubicBezTo>
                    <a:pt x="16" y="9"/>
                    <a:pt x="14" y="10"/>
                    <a:pt x="12" y="12"/>
                  </a:cubicBezTo>
                  <a:cubicBezTo>
                    <a:pt x="9" y="15"/>
                    <a:pt x="9" y="20"/>
                    <a:pt x="12" y="23"/>
                  </a:cubicBezTo>
                  <a:cubicBezTo>
                    <a:pt x="88" y="99"/>
                    <a:pt x="88" y="99"/>
                    <a:pt x="88" y="99"/>
                  </a:cubicBezTo>
                  <a:cubicBezTo>
                    <a:pt x="91" y="102"/>
                    <a:pt x="96" y="102"/>
                    <a:pt x="99" y="99"/>
                  </a:cubicBezTo>
                  <a:cubicBezTo>
                    <a:pt x="101" y="97"/>
                    <a:pt x="102" y="95"/>
                    <a:pt x="102" y="93"/>
                  </a:cubicBezTo>
                  <a:cubicBezTo>
                    <a:pt x="102" y="91"/>
                    <a:pt x="101" y="89"/>
                    <a:pt x="99" y="8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0"/>
                    <a:pt x="20" y="9"/>
                    <a:pt x="18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C1B95D61-AE6A-4F1A-931A-422112549E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2363" y="1482725"/>
              <a:ext cx="419100" cy="420688"/>
            </a:xfrm>
            <a:custGeom>
              <a:avLst/>
              <a:gdLst>
                <a:gd name="T0" fmla="*/ 93 w 110"/>
                <a:gd name="T1" fmla="*/ 110 h 110"/>
                <a:gd name="T2" fmla="*/ 82 w 110"/>
                <a:gd name="T3" fmla="*/ 105 h 110"/>
                <a:gd name="T4" fmla="*/ 6 w 110"/>
                <a:gd name="T5" fmla="*/ 29 h 110"/>
                <a:gd name="T6" fmla="*/ 6 w 110"/>
                <a:gd name="T7" fmla="*/ 6 h 110"/>
                <a:gd name="T8" fmla="*/ 29 w 110"/>
                <a:gd name="T9" fmla="*/ 6 h 110"/>
                <a:gd name="T10" fmla="*/ 105 w 110"/>
                <a:gd name="T11" fmla="*/ 82 h 110"/>
                <a:gd name="T12" fmla="*/ 110 w 110"/>
                <a:gd name="T13" fmla="*/ 93 h 110"/>
                <a:gd name="T14" fmla="*/ 105 w 110"/>
                <a:gd name="T15" fmla="*/ 105 h 110"/>
                <a:gd name="T16" fmla="*/ 93 w 110"/>
                <a:gd name="T17" fmla="*/ 110 h 110"/>
                <a:gd name="T18" fmla="*/ 18 w 110"/>
                <a:gd name="T19" fmla="*/ 10 h 110"/>
                <a:gd name="T20" fmla="*/ 12 w 110"/>
                <a:gd name="T21" fmla="*/ 12 h 110"/>
                <a:gd name="T22" fmla="*/ 12 w 110"/>
                <a:gd name="T23" fmla="*/ 24 h 110"/>
                <a:gd name="T24" fmla="*/ 87 w 110"/>
                <a:gd name="T25" fmla="*/ 99 h 110"/>
                <a:gd name="T26" fmla="*/ 99 w 110"/>
                <a:gd name="T27" fmla="*/ 99 h 110"/>
                <a:gd name="T28" fmla="*/ 101 w 110"/>
                <a:gd name="T29" fmla="*/ 93 h 110"/>
                <a:gd name="T30" fmla="*/ 99 w 110"/>
                <a:gd name="T31" fmla="*/ 87 h 110"/>
                <a:gd name="T32" fmla="*/ 24 w 110"/>
                <a:gd name="T33" fmla="*/ 12 h 110"/>
                <a:gd name="T34" fmla="*/ 18 w 110"/>
                <a:gd name="T35" fmla="*/ 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" h="110">
                  <a:moveTo>
                    <a:pt x="93" y="110"/>
                  </a:moveTo>
                  <a:cubicBezTo>
                    <a:pt x="89" y="110"/>
                    <a:pt x="85" y="108"/>
                    <a:pt x="82" y="105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0" y="23"/>
                    <a:pt x="0" y="13"/>
                    <a:pt x="6" y="6"/>
                  </a:cubicBezTo>
                  <a:cubicBezTo>
                    <a:pt x="12" y="0"/>
                    <a:pt x="23" y="0"/>
                    <a:pt x="29" y="6"/>
                  </a:cubicBezTo>
                  <a:cubicBezTo>
                    <a:pt x="105" y="82"/>
                    <a:pt x="105" y="82"/>
                    <a:pt x="105" y="82"/>
                  </a:cubicBezTo>
                  <a:cubicBezTo>
                    <a:pt x="108" y="85"/>
                    <a:pt x="110" y="89"/>
                    <a:pt x="110" y="93"/>
                  </a:cubicBezTo>
                  <a:cubicBezTo>
                    <a:pt x="110" y="98"/>
                    <a:pt x="108" y="102"/>
                    <a:pt x="105" y="105"/>
                  </a:cubicBezTo>
                  <a:cubicBezTo>
                    <a:pt x="102" y="108"/>
                    <a:pt x="98" y="110"/>
                    <a:pt x="93" y="110"/>
                  </a:cubicBezTo>
                  <a:close/>
                  <a:moveTo>
                    <a:pt x="18" y="10"/>
                  </a:moveTo>
                  <a:cubicBezTo>
                    <a:pt x="16" y="10"/>
                    <a:pt x="14" y="10"/>
                    <a:pt x="12" y="12"/>
                  </a:cubicBezTo>
                  <a:cubicBezTo>
                    <a:pt x="9" y="15"/>
                    <a:pt x="9" y="20"/>
                    <a:pt x="12" y="24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91" y="102"/>
                    <a:pt x="96" y="102"/>
                    <a:pt x="99" y="99"/>
                  </a:cubicBezTo>
                  <a:cubicBezTo>
                    <a:pt x="101" y="97"/>
                    <a:pt x="101" y="95"/>
                    <a:pt x="101" y="93"/>
                  </a:cubicBezTo>
                  <a:cubicBezTo>
                    <a:pt x="101" y="91"/>
                    <a:pt x="101" y="89"/>
                    <a:pt x="99" y="87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0"/>
                    <a:pt x="20" y="10"/>
                    <a:pt x="1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B7C229F9-A8BD-474E-B8A8-4C47F478B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9788" y="1947863"/>
              <a:ext cx="239713" cy="241300"/>
            </a:xfrm>
            <a:custGeom>
              <a:avLst/>
              <a:gdLst>
                <a:gd name="T0" fmla="*/ 45 w 63"/>
                <a:gd name="T1" fmla="*/ 63 h 63"/>
                <a:gd name="T2" fmla="*/ 34 w 63"/>
                <a:gd name="T3" fmla="*/ 58 h 63"/>
                <a:gd name="T4" fmla="*/ 5 w 63"/>
                <a:gd name="T5" fmla="*/ 29 h 63"/>
                <a:gd name="T6" fmla="*/ 0 w 63"/>
                <a:gd name="T7" fmla="*/ 18 h 63"/>
                <a:gd name="T8" fmla="*/ 5 w 63"/>
                <a:gd name="T9" fmla="*/ 6 h 63"/>
                <a:gd name="T10" fmla="*/ 28 w 63"/>
                <a:gd name="T11" fmla="*/ 6 h 63"/>
                <a:gd name="T12" fmla="*/ 57 w 63"/>
                <a:gd name="T13" fmla="*/ 35 h 63"/>
                <a:gd name="T14" fmla="*/ 57 w 63"/>
                <a:gd name="T15" fmla="*/ 58 h 63"/>
                <a:gd name="T16" fmla="*/ 45 w 63"/>
                <a:gd name="T17" fmla="*/ 63 h 63"/>
                <a:gd name="T18" fmla="*/ 16 w 63"/>
                <a:gd name="T19" fmla="*/ 9 h 63"/>
                <a:gd name="T20" fmla="*/ 11 w 63"/>
                <a:gd name="T21" fmla="*/ 12 h 63"/>
                <a:gd name="T22" fmla="*/ 8 w 63"/>
                <a:gd name="T23" fmla="*/ 18 h 63"/>
                <a:gd name="T24" fmla="*/ 11 w 63"/>
                <a:gd name="T25" fmla="*/ 23 h 63"/>
                <a:gd name="T26" fmla="*/ 40 w 63"/>
                <a:gd name="T27" fmla="*/ 52 h 63"/>
                <a:gd name="T28" fmla="*/ 51 w 63"/>
                <a:gd name="T29" fmla="*/ 52 h 63"/>
                <a:gd name="T30" fmla="*/ 51 w 63"/>
                <a:gd name="T31" fmla="*/ 41 h 63"/>
                <a:gd name="T32" fmla="*/ 22 w 63"/>
                <a:gd name="T33" fmla="*/ 12 h 63"/>
                <a:gd name="T34" fmla="*/ 16 w 63"/>
                <a:gd name="T35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63">
                  <a:moveTo>
                    <a:pt x="45" y="63"/>
                  </a:moveTo>
                  <a:cubicBezTo>
                    <a:pt x="41" y="63"/>
                    <a:pt x="37" y="61"/>
                    <a:pt x="34" y="5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2" y="26"/>
                    <a:pt x="0" y="22"/>
                    <a:pt x="0" y="18"/>
                  </a:cubicBezTo>
                  <a:cubicBezTo>
                    <a:pt x="0" y="13"/>
                    <a:pt x="2" y="9"/>
                    <a:pt x="5" y="6"/>
                  </a:cubicBezTo>
                  <a:cubicBezTo>
                    <a:pt x="11" y="0"/>
                    <a:pt x="22" y="0"/>
                    <a:pt x="28" y="6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63" y="41"/>
                    <a:pt x="63" y="52"/>
                    <a:pt x="57" y="58"/>
                  </a:cubicBezTo>
                  <a:cubicBezTo>
                    <a:pt x="54" y="61"/>
                    <a:pt x="50" y="63"/>
                    <a:pt x="45" y="63"/>
                  </a:cubicBezTo>
                  <a:close/>
                  <a:moveTo>
                    <a:pt x="16" y="9"/>
                  </a:moveTo>
                  <a:cubicBezTo>
                    <a:pt x="14" y="9"/>
                    <a:pt x="12" y="10"/>
                    <a:pt x="11" y="12"/>
                  </a:cubicBezTo>
                  <a:cubicBezTo>
                    <a:pt x="9" y="13"/>
                    <a:pt x="8" y="15"/>
                    <a:pt x="8" y="18"/>
                  </a:cubicBezTo>
                  <a:cubicBezTo>
                    <a:pt x="8" y="20"/>
                    <a:pt x="9" y="22"/>
                    <a:pt x="11" y="2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3" y="56"/>
                    <a:pt x="48" y="55"/>
                    <a:pt x="51" y="52"/>
                  </a:cubicBezTo>
                  <a:cubicBezTo>
                    <a:pt x="54" y="49"/>
                    <a:pt x="54" y="44"/>
                    <a:pt x="51" y="41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0"/>
                    <a:pt x="19" y="9"/>
                    <a:pt x="16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6C9B685E-C5E8-449D-B8DF-D9F22BDCFE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1901" y="1460500"/>
              <a:ext cx="328613" cy="331788"/>
            </a:xfrm>
            <a:custGeom>
              <a:avLst/>
              <a:gdLst>
                <a:gd name="T0" fmla="*/ 70 w 86"/>
                <a:gd name="T1" fmla="*/ 87 h 87"/>
                <a:gd name="T2" fmla="*/ 58 w 86"/>
                <a:gd name="T3" fmla="*/ 82 h 87"/>
                <a:gd name="T4" fmla="*/ 6 w 86"/>
                <a:gd name="T5" fmla="*/ 30 h 87"/>
                <a:gd name="T6" fmla="*/ 6 w 86"/>
                <a:gd name="T7" fmla="*/ 6 h 87"/>
                <a:gd name="T8" fmla="*/ 29 w 86"/>
                <a:gd name="T9" fmla="*/ 6 h 87"/>
                <a:gd name="T10" fmla="*/ 82 w 86"/>
                <a:gd name="T11" fmla="*/ 59 h 87"/>
                <a:gd name="T12" fmla="*/ 86 w 86"/>
                <a:gd name="T13" fmla="*/ 70 h 87"/>
                <a:gd name="T14" fmla="*/ 82 w 86"/>
                <a:gd name="T15" fmla="*/ 82 h 87"/>
                <a:gd name="T16" fmla="*/ 70 w 86"/>
                <a:gd name="T17" fmla="*/ 87 h 87"/>
                <a:gd name="T18" fmla="*/ 18 w 86"/>
                <a:gd name="T19" fmla="*/ 10 h 87"/>
                <a:gd name="T20" fmla="*/ 12 w 86"/>
                <a:gd name="T21" fmla="*/ 12 h 87"/>
                <a:gd name="T22" fmla="*/ 12 w 86"/>
                <a:gd name="T23" fmla="*/ 24 h 87"/>
                <a:gd name="T24" fmla="*/ 64 w 86"/>
                <a:gd name="T25" fmla="*/ 76 h 87"/>
                <a:gd name="T26" fmla="*/ 76 w 86"/>
                <a:gd name="T27" fmla="*/ 76 h 87"/>
                <a:gd name="T28" fmla="*/ 78 w 86"/>
                <a:gd name="T29" fmla="*/ 70 h 87"/>
                <a:gd name="T30" fmla="*/ 76 w 86"/>
                <a:gd name="T31" fmla="*/ 64 h 87"/>
                <a:gd name="T32" fmla="*/ 24 w 86"/>
                <a:gd name="T33" fmla="*/ 12 h 87"/>
                <a:gd name="T34" fmla="*/ 18 w 86"/>
                <a:gd name="T35" fmla="*/ 1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6" h="87">
                  <a:moveTo>
                    <a:pt x="70" y="87"/>
                  </a:moveTo>
                  <a:cubicBezTo>
                    <a:pt x="66" y="87"/>
                    <a:pt x="62" y="85"/>
                    <a:pt x="58" y="82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0" y="23"/>
                    <a:pt x="0" y="13"/>
                    <a:pt x="6" y="6"/>
                  </a:cubicBezTo>
                  <a:cubicBezTo>
                    <a:pt x="12" y="0"/>
                    <a:pt x="23" y="0"/>
                    <a:pt x="29" y="6"/>
                  </a:cubicBezTo>
                  <a:cubicBezTo>
                    <a:pt x="82" y="59"/>
                    <a:pt x="82" y="59"/>
                    <a:pt x="82" y="59"/>
                  </a:cubicBezTo>
                  <a:cubicBezTo>
                    <a:pt x="85" y="62"/>
                    <a:pt x="86" y="66"/>
                    <a:pt x="86" y="70"/>
                  </a:cubicBezTo>
                  <a:cubicBezTo>
                    <a:pt x="86" y="75"/>
                    <a:pt x="85" y="79"/>
                    <a:pt x="82" y="82"/>
                  </a:cubicBezTo>
                  <a:cubicBezTo>
                    <a:pt x="79" y="85"/>
                    <a:pt x="74" y="87"/>
                    <a:pt x="70" y="87"/>
                  </a:cubicBezTo>
                  <a:close/>
                  <a:moveTo>
                    <a:pt x="18" y="10"/>
                  </a:moveTo>
                  <a:cubicBezTo>
                    <a:pt x="16" y="10"/>
                    <a:pt x="14" y="11"/>
                    <a:pt x="12" y="12"/>
                  </a:cubicBezTo>
                  <a:cubicBezTo>
                    <a:pt x="9" y="15"/>
                    <a:pt x="9" y="21"/>
                    <a:pt x="12" y="24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7" y="79"/>
                    <a:pt x="73" y="79"/>
                    <a:pt x="76" y="76"/>
                  </a:cubicBezTo>
                  <a:cubicBezTo>
                    <a:pt x="77" y="74"/>
                    <a:pt x="78" y="72"/>
                    <a:pt x="78" y="70"/>
                  </a:cubicBezTo>
                  <a:cubicBezTo>
                    <a:pt x="78" y="68"/>
                    <a:pt x="77" y="66"/>
                    <a:pt x="76" y="64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1"/>
                    <a:pt x="20" y="10"/>
                    <a:pt x="1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F00F8698-4481-4B0F-B34D-4B672C9CEF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6201" y="1438275"/>
              <a:ext cx="244475" cy="242888"/>
            </a:xfrm>
            <a:custGeom>
              <a:avLst/>
              <a:gdLst>
                <a:gd name="T0" fmla="*/ 46 w 64"/>
                <a:gd name="T1" fmla="*/ 64 h 64"/>
                <a:gd name="T2" fmla="*/ 34 w 64"/>
                <a:gd name="T3" fmla="*/ 59 h 64"/>
                <a:gd name="T4" fmla="*/ 5 w 64"/>
                <a:gd name="T5" fmla="*/ 30 h 64"/>
                <a:gd name="T6" fmla="*/ 0 w 64"/>
                <a:gd name="T7" fmla="*/ 18 h 64"/>
                <a:gd name="T8" fmla="*/ 5 w 64"/>
                <a:gd name="T9" fmla="*/ 7 h 64"/>
                <a:gd name="T10" fmla="*/ 28 w 64"/>
                <a:gd name="T11" fmla="*/ 7 h 64"/>
                <a:gd name="T12" fmla="*/ 57 w 64"/>
                <a:gd name="T13" fmla="*/ 36 h 64"/>
                <a:gd name="T14" fmla="*/ 57 w 64"/>
                <a:gd name="T15" fmla="*/ 59 h 64"/>
                <a:gd name="T16" fmla="*/ 46 w 64"/>
                <a:gd name="T17" fmla="*/ 64 h 64"/>
                <a:gd name="T18" fmla="*/ 17 w 64"/>
                <a:gd name="T19" fmla="*/ 10 h 64"/>
                <a:gd name="T20" fmla="*/ 11 w 64"/>
                <a:gd name="T21" fmla="*/ 12 h 64"/>
                <a:gd name="T22" fmla="*/ 9 w 64"/>
                <a:gd name="T23" fmla="*/ 18 h 64"/>
                <a:gd name="T24" fmla="*/ 11 w 64"/>
                <a:gd name="T25" fmla="*/ 24 h 64"/>
                <a:gd name="T26" fmla="*/ 40 w 64"/>
                <a:gd name="T27" fmla="*/ 53 h 64"/>
                <a:gd name="T28" fmla="*/ 52 w 64"/>
                <a:gd name="T29" fmla="*/ 53 h 64"/>
                <a:gd name="T30" fmla="*/ 52 w 64"/>
                <a:gd name="T31" fmla="*/ 41 h 64"/>
                <a:gd name="T32" fmla="*/ 23 w 64"/>
                <a:gd name="T33" fmla="*/ 12 h 64"/>
                <a:gd name="T34" fmla="*/ 17 w 64"/>
                <a:gd name="T35" fmla="*/ 1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" h="64">
                  <a:moveTo>
                    <a:pt x="46" y="64"/>
                  </a:moveTo>
                  <a:cubicBezTo>
                    <a:pt x="41" y="64"/>
                    <a:pt x="37" y="62"/>
                    <a:pt x="34" y="59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2" y="27"/>
                    <a:pt x="0" y="23"/>
                    <a:pt x="0" y="18"/>
                  </a:cubicBezTo>
                  <a:cubicBezTo>
                    <a:pt x="0" y="14"/>
                    <a:pt x="2" y="10"/>
                    <a:pt x="5" y="7"/>
                  </a:cubicBezTo>
                  <a:cubicBezTo>
                    <a:pt x="11" y="0"/>
                    <a:pt x="22" y="0"/>
                    <a:pt x="28" y="7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4" y="42"/>
                    <a:pt x="64" y="52"/>
                    <a:pt x="57" y="59"/>
                  </a:cubicBezTo>
                  <a:cubicBezTo>
                    <a:pt x="54" y="62"/>
                    <a:pt x="50" y="64"/>
                    <a:pt x="46" y="64"/>
                  </a:cubicBezTo>
                  <a:close/>
                  <a:moveTo>
                    <a:pt x="17" y="10"/>
                  </a:moveTo>
                  <a:cubicBezTo>
                    <a:pt x="15" y="10"/>
                    <a:pt x="13" y="11"/>
                    <a:pt x="11" y="12"/>
                  </a:cubicBezTo>
                  <a:cubicBezTo>
                    <a:pt x="10" y="14"/>
                    <a:pt x="9" y="16"/>
                    <a:pt x="9" y="18"/>
                  </a:cubicBezTo>
                  <a:cubicBezTo>
                    <a:pt x="9" y="20"/>
                    <a:pt x="10" y="22"/>
                    <a:pt x="11" y="24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3" y="56"/>
                    <a:pt x="49" y="56"/>
                    <a:pt x="52" y="53"/>
                  </a:cubicBezTo>
                  <a:cubicBezTo>
                    <a:pt x="55" y="50"/>
                    <a:pt x="55" y="45"/>
                    <a:pt x="52" y="41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1" y="11"/>
                    <a:pt x="19" y="10"/>
                    <a:pt x="1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E8E486F8-D46A-4B7C-88AD-5371B6CF21BD}"/>
              </a:ext>
            </a:extLst>
          </p:cNvPr>
          <p:cNvSpPr txBox="1"/>
          <p:nvPr/>
        </p:nvSpPr>
        <p:spPr>
          <a:xfrm>
            <a:off x="2753179" y="1374162"/>
            <a:ext cx="118178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STRENGHTS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25DE65-8E5A-4E97-89B8-58795972A4E5}"/>
              </a:ext>
            </a:extLst>
          </p:cNvPr>
          <p:cNvSpPr txBox="1"/>
          <p:nvPr/>
        </p:nvSpPr>
        <p:spPr>
          <a:xfrm flipH="1">
            <a:off x="7508422" y="1380887"/>
            <a:ext cx="138157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WEAKNESSES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15D512-23E7-4B92-AC08-294B117BCAB5}"/>
              </a:ext>
            </a:extLst>
          </p:cNvPr>
          <p:cNvSpPr txBox="1"/>
          <p:nvPr/>
        </p:nvSpPr>
        <p:spPr>
          <a:xfrm flipH="1">
            <a:off x="7508420" y="1668981"/>
            <a:ext cx="4416880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DRiV’s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 current support is spread across globe, whereas SAP support is centered around India and US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Competitors are aligned to the actual decision makers.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Need for language support in Mandarin, Portuguese, Spanish and Dutch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EE2670-CA6C-43F0-9491-BC6161C9A31D}"/>
              </a:ext>
            </a:extLst>
          </p:cNvPr>
          <p:cNvSpPr txBox="1"/>
          <p:nvPr/>
        </p:nvSpPr>
        <p:spPr>
          <a:xfrm>
            <a:off x="2478241" y="3395345"/>
            <a:ext cx="145672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OPPORTUNITIES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DBF348-3214-48E8-BEE3-1BEC32C4825A}"/>
              </a:ext>
            </a:extLst>
          </p:cNvPr>
          <p:cNvSpPr txBox="1"/>
          <p:nvPr/>
        </p:nvSpPr>
        <p:spPr>
          <a:xfrm flipH="1">
            <a:off x="7581437" y="3358596"/>
            <a:ext cx="9731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</a:rPr>
              <a:t>THREATS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4EA358-C490-4577-9400-1ACD404D1A64}"/>
              </a:ext>
            </a:extLst>
          </p:cNvPr>
          <p:cNvGrpSpPr>
            <a:grpSpLocks noChangeAspect="1"/>
          </p:cNvGrpSpPr>
          <p:nvPr/>
        </p:nvGrpSpPr>
        <p:grpSpPr>
          <a:xfrm>
            <a:off x="6360528" y="2607556"/>
            <a:ext cx="376036" cy="360000"/>
            <a:chOff x="-4483100" y="-95250"/>
            <a:chExt cx="4541838" cy="4348163"/>
          </a:xfrm>
          <a:solidFill>
            <a:srgbClr val="E33836"/>
          </a:solidFill>
        </p:grpSpPr>
        <p:sp>
          <p:nvSpPr>
            <p:cNvPr id="42" name="Freeform 62">
              <a:extLst>
                <a:ext uri="{FF2B5EF4-FFF2-40B4-BE49-F238E27FC236}">
                  <a16:creationId xmlns:a16="http://schemas.microsoft.com/office/drawing/2014/main" id="{C55BB4C5-A4DC-42BA-8639-6296CA2F4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-3749675" y="195263"/>
              <a:ext cx="585788" cy="574675"/>
            </a:xfrm>
            <a:custGeom>
              <a:avLst/>
              <a:gdLst>
                <a:gd name="T0" fmla="*/ 128 w 156"/>
                <a:gd name="T1" fmla="*/ 153 h 153"/>
                <a:gd name="T2" fmla="*/ 111 w 156"/>
                <a:gd name="T3" fmla="*/ 146 h 153"/>
                <a:gd name="T4" fmla="*/ 10 w 156"/>
                <a:gd name="T5" fmla="*/ 45 h 153"/>
                <a:gd name="T6" fmla="*/ 10 w 156"/>
                <a:gd name="T7" fmla="*/ 10 h 153"/>
                <a:gd name="T8" fmla="*/ 46 w 156"/>
                <a:gd name="T9" fmla="*/ 10 h 153"/>
                <a:gd name="T10" fmla="*/ 146 w 156"/>
                <a:gd name="T11" fmla="*/ 110 h 153"/>
                <a:gd name="T12" fmla="*/ 146 w 156"/>
                <a:gd name="T13" fmla="*/ 146 h 153"/>
                <a:gd name="T14" fmla="*/ 128 w 156"/>
                <a:gd name="T1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6" h="153">
                  <a:moveTo>
                    <a:pt x="128" y="153"/>
                  </a:moveTo>
                  <a:cubicBezTo>
                    <a:pt x="122" y="153"/>
                    <a:pt x="115" y="151"/>
                    <a:pt x="111" y="146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0" y="35"/>
                    <a:pt x="0" y="19"/>
                    <a:pt x="10" y="10"/>
                  </a:cubicBezTo>
                  <a:cubicBezTo>
                    <a:pt x="20" y="0"/>
                    <a:pt x="36" y="0"/>
                    <a:pt x="46" y="10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56" y="120"/>
                    <a:pt x="156" y="136"/>
                    <a:pt x="146" y="146"/>
                  </a:cubicBezTo>
                  <a:cubicBezTo>
                    <a:pt x="141" y="151"/>
                    <a:pt x="135" y="153"/>
                    <a:pt x="12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Freeform 63">
              <a:extLst>
                <a:ext uri="{FF2B5EF4-FFF2-40B4-BE49-F238E27FC236}">
                  <a16:creationId xmlns:a16="http://schemas.microsoft.com/office/drawing/2014/main" id="{2584AB5D-1D99-4931-BFE7-B5E59CDBF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84475" y="-95250"/>
              <a:ext cx="192088" cy="661988"/>
            </a:xfrm>
            <a:custGeom>
              <a:avLst/>
              <a:gdLst>
                <a:gd name="T0" fmla="*/ 26 w 51"/>
                <a:gd name="T1" fmla="*/ 176 h 176"/>
                <a:gd name="T2" fmla="*/ 0 w 51"/>
                <a:gd name="T3" fmla="*/ 151 h 176"/>
                <a:gd name="T4" fmla="*/ 0 w 51"/>
                <a:gd name="T5" fmla="*/ 25 h 176"/>
                <a:gd name="T6" fmla="*/ 26 w 51"/>
                <a:gd name="T7" fmla="*/ 0 h 176"/>
                <a:gd name="T8" fmla="*/ 51 w 51"/>
                <a:gd name="T9" fmla="*/ 25 h 176"/>
                <a:gd name="T10" fmla="*/ 51 w 51"/>
                <a:gd name="T11" fmla="*/ 151 h 176"/>
                <a:gd name="T12" fmla="*/ 26 w 51"/>
                <a:gd name="T13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176">
                  <a:moveTo>
                    <a:pt x="26" y="176"/>
                  </a:moveTo>
                  <a:cubicBezTo>
                    <a:pt x="12" y="176"/>
                    <a:pt x="0" y="165"/>
                    <a:pt x="0" y="15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9" y="0"/>
                    <a:pt x="51" y="11"/>
                    <a:pt x="51" y="25"/>
                  </a:cubicBezTo>
                  <a:cubicBezTo>
                    <a:pt x="51" y="151"/>
                    <a:pt x="51" y="151"/>
                    <a:pt x="51" y="151"/>
                  </a:cubicBezTo>
                  <a:cubicBezTo>
                    <a:pt x="51" y="165"/>
                    <a:pt x="39" y="176"/>
                    <a:pt x="26" y="1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 64">
              <a:extLst>
                <a:ext uri="{FF2B5EF4-FFF2-40B4-BE49-F238E27FC236}">
                  <a16:creationId xmlns:a16="http://schemas.microsoft.com/office/drawing/2014/main" id="{7D4601F1-7A28-4CEA-BC59-FDA2553A2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27487" y="1228725"/>
              <a:ext cx="660400" cy="188913"/>
            </a:xfrm>
            <a:custGeom>
              <a:avLst/>
              <a:gdLst>
                <a:gd name="T0" fmla="*/ 151 w 176"/>
                <a:gd name="T1" fmla="*/ 50 h 50"/>
                <a:gd name="T2" fmla="*/ 25 w 176"/>
                <a:gd name="T3" fmla="*/ 50 h 50"/>
                <a:gd name="T4" fmla="*/ 0 w 176"/>
                <a:gd name="T5" fmla="*/ 25 h 50"/>
                <a:gd name="T6" fmla="*/ 25 w 176"/>
                <a:gd name="T7" fmla="*/ 0 h 50"/>
                <a:gd name="T8" fmla="*/ 151 w 176"/>
                <a:gd name="T9" fmla="*/ 0 h 50"/>
                <a:gd name="T10" fmla="*/ 176 w 176"/>
                <a:gd name="T11" fmla="*/ 25 h 50"/>
                <a:gd name="T12" fmla="*/ 151 w 176"/>
                <a:gd name="T13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6" h="50">
                  <a:moveTo>
                    <a:pt x="151" y="50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11" y="50"/>
                    <a:pt x="0" y="39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65" y="0"/>
                    <a:pt x="176" y="11"/>
                    <a:pt x="176" y="25"/>
                  </a:cubicBezTo>
                  <a:cubicBezTo>
                    <a:pt x="176" y="39"/>
                    <a:pt x="165" y="50"/>
                    <a:pt x="151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Freeform 65">
              <a:extLst>
                <a:ext uri="{FF2B5EF4-FFF2-40B4-BE49-F238E27FC236}">
                  <a16:creationId xmlns:a16="http://schemas.microsoft.com/office/drawing/2014/main" id="{A511DD69-E729-4327-A7B4-1FF25E33C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-4483100" y="2082800"/>
              <a:ext cx="2168525" cy="2170113"/>
            </a:xfrm>
            <a:custGeom>
              <a:avLst/>
              <a:gdLst>
                <a:gd name="T0" fmla="*/ 254 w 577"/>
                <a:gd name="T1" fmla="*/ 577 h 577"/>
                <a:gd name="T2" fmla="*/ 112 w 577"/>
                <a:gd name="T3" fmla="*/ 518 h 577"/>
                <a:gd name="T4" fmla="*/ 59 w 577"/>
                <a:gd name="T5" fmla="*/ 465 h 577"/>
                <a:gd name="T6" fmla="*/ 0 w 577"/>
                <a:gd name="T7" fmla="*/ 323 h 577"/>
                <a:gd name="T8" fmla="*/ 59 w 577"/>
                <a:gd name="T9" fmla="*/ 181 h 577"/>
                <a:gd name="T10" fmla="*/ 230 w 577"/>
                <a:gd name="T11" fmla="*/ 10 h 577"/>
                <a:gd name="T12" fmla="*/ 265 w 577"/>
                <a:gd name="T13" fmla="*/ 10 h 577"/>
                <a:gd name="T14" fmla="*/ 265 w 577"/>
                <a:gd name="T15" fmla="*/ 45 h 577"/>
                <a:gd name="T16" fmla="*/ 94 w 577"/>
                <a:gd name="T17" fmla="*/ 216 h 577"/>
                <a:gd name="T18" fmla="*/ 50 w 577"/>
                <a:gd name="T19" fmla="*/ 323 h 577"/>
                <a:gd name="T20" fmla="*/ 94 w 577"/>
                <a:gd name="T21" fmla="*/ 429 h 577"/>
                <a:gd name="T22" fmla="*/ 147 w 577"/>
                <a:gd name="T23" fmla="*/ 483 h 577"/>
                <a:gd name="T24" fmla="*/ 361 w 577"/>
                <a:gd name="T25" fmla="*/ 483 h 577"/>
                <a:gd name="T26" fmla="*/ 532 w 577"/>
                <a:gd name="T27" fmla="*/ 312 h 577"/>
                <a:gd name="T28" fmla="*/ 567 w 577"/>
                <a:gd name="T29" fmla="*/ 312 h 577"/>
                <a:gd name="T30" fmla="*/ 567 w 577"/>
                <a:gd name="T31" fmla="*/ 347 h 577"/>
                <a:gd name="T32" fmla="*/ 396 w 577"/>
                <a:gd name="T33" fmla="*/ 518 h 577"/>
                <a:gd name="T34" fmla="*/ 254 w 577"/>
                <a:gd name="T35" fmla="*/ 577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7" h="577">
                  <a:moveTo>
                    <a:pt x="254" y="577"/>
                  </a:moveTo>
                  <a:cubicBezTo>
                    <a:pt x="200" y="577"/>
                    <a:pt x="150" y="556"/>
                    <a:pt x="112" y="518"/>
                  </a:cubicBezTo>
                  <a:cubicBezTo>
                    <a:pt x="59" y="465"/>
                    <a:pt x="59" y="465"/>
                    <a:pt x="59" y="465"/>
                  </a:cubicBezTo>
                  <a:cubicBezTo>
                    <a:pt x="21" y="427"/>
                    <a:pt x="0" y="377"/>
                    <a:pt x="0" y="323"/>
                  </a:cubicBezTo>
                  <a:cubicBezTo>
                    <a:pt x="0" y="269"/>
                    <a:pt x="21" y="219"/>
                    <a:pt x="59" y="181"/>
                  </a:cubicBezTo>
                  <a:cubicBezTo>
                    <a:pt x="230" y="10"/>
                    <a:pt x="230" y="10"/>
                    <a:pt x="230" y="10"/>
                  </a:cubicBezTo>
                  <a:cubicBezTo>
                    <a:pt x="239" y="0"/>
                    <a:pt x="255" y="0"/>
                    <a:pt x="265" y="10"/>
                  </a:cubicBezTo>
                  <a:cubicBezTo>
                    <a:pt x="275" y="19"/>
                    <a:pt x="275" y="35"/>
                    <a:pt x="265" y="45"/>
                  </a:cubicBezTo>
                  <a:cubicBezTo>
                    <a:pt x="94" y="216"/>
                    <a:pt x="94" y="216"/>
                    <a:pt x="94" y="216"/>
                  </a:cubicBezTo>
                  <a:cubicBezTo>
                    <a:pt x="66" y="245"/>
                    <a:pt x="50" y="282"/>
                    <a:pt x="50" y="323"/>
                  </a:cubicBezTo>
                  <a:cubicBezTo>
                    <a:pt x="50" y="363"/>
                    <a:pt x="66" y="401"/>
                    <a:pt x="94" y="429"/>
                  </a:cubicBezTo>
                  <a:cubicBezTo>
                    <a:pt x="147" y="483"/>
                    <a:pt x="147" y="483"/>
                    <a:pt x="147" y="483"/>
                  </a:cubicBezTo>
                  <a:cubicBezTo>
                    <a:pt x="204" y="539"/>
                    <a:pt x="304" y="539"/>
                    <a:pt x="361" y="483"/>
                  </a:cubicBezTo>
                  <a:cubicBezTo>
                    <a:pt x="532" y="312"/>
                    <a:pt x="532" y="312"/>
                    <a:pt x="532" y="312"/>
                  </a:cubicBezTo>
                  <a:cubicBezTo>
                    <a:pt x="542" y="302"/>
                    <a:pt x="557" y="302"/>
                    <a:pt x="567" y="312"/>
                  </a:cubicBezTo>
                  <a:cubicBezTo>
                    <a:pt x="577" y="322"/>
                    <a:pt x="577" y="338"/>
                    <a:pt x="567" y="347"/>
                  </a:cubicBezTo>
                  <a:cubicBezTo>
                    <a:pt x="396" y="518"/>
                    <a:pt x="396" y="518"/>
                    <a:pt x="396" y="518"/>
                  </a:cubicBezTo>
                  <a:cubicBezTo>
                    <a:pt x="358" y="556"/>
                    <a:pt x="308" y="577"/>
                    <a:pt x="254" y="57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Freeform 66">
              <a:extLst>
                <a:ext uri="{FF2B5EF4-FFF2-40B4-BE49-F238E27FC236}">
                  <a16:creationId xmlns:a16="http://schemas.microsoft.com/office/drawing/2014/main" id="{D1A390F7-63FD-4A2F-94ED-7C5D95219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666875" y="1228725"/>
              <a:ext cx="1725613" cy="1887538"/>
            </a:xfrm>
            <a:custGeom>
              <a:avLst/>
              <a:gdLst>
                <a:gd name="T0" fmla="*/ 250 w 459"/>
                <a:gd name="T1" fmla="*/ 502 h 502"/>
                <a:gd name="T2" fmla="*/ 25 w 459"/>
                <a:gd name="T3" fmla="*/ 502 h 502"/>
                <a:gd name="T4" fmla="*/ 0 w 459"/>
                <a:gd name="T5" fmla="*/ 477 h 502"/>
                <a:gd name="T6" fmla="*/ 25 w 459"/>
                <a:gd name="T7" fmla="*/ 452 h 502"/>
                <a:gd name="T8" fmla="*/ 250 w 459"/>
                <a:gd name="T9" fmla="*/ 452 h 502"/>
                <a:gd name="T10" fmla="*/ 409 w 459"/>
                <a:gd name="T11" fmla="*/ 305 h 502"/>
                <a:gd name="T12" fmla="*/ 409 w 459"/>
                <a:gd name="T13" fmla="*/ 205 h 502"/>
                <a:gd name="T14" fmla="*/ 252 w 459"/>
                <a:gd name="T15" fmla="*/ 50 h 502"/>
                <a:gd name="T16" fmla="*/ 25 w 459"/>
                <a:gd name="T17" fmla="*/ 50 h 502"/>
                <a:gd name="T18" fmla="*/ 0 w 459"/>
                <a:gd name="T19" fmla="*/ 25 h 502"/>
                <a:gd name="T20" fmla="*/ 25 w 459"/>
                <a:gd name="T21" fmla="*/ 0 h 502"/>
                <a:gd name="T22" fmla="*/ 252 w 459"/>
                <a:gd name="T23" fmla="*/ 0 h 502"/>
                <a:gd name="T24" fmla="*/ 459 w 459"/>
                <a:gd name="T25" fmla="*/ 205 h 502"/>
                <a:gd name="T26" fmla="*/ 459 w 459"/>
                <a:gd name="T27" fmla="*/ 305 h 502"/>
                <a:gd name="T28" fmla="*/ 250 w 459"/>
                <a:gd name="T29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9" h="502">
                  <a:moveTo>
                    <a:pt x="250" y="502"/>
                  </a:moveTo>
                  <a:cubicBezTo>
                    <a:pt x="25" y="502"/>
                    <a:pt x="25" y="502"/>
                    <a:pt x="25" y="502"/>
                  </a:cubicBezTo>
                  <a:cubicBezTo>
                    <a:pt x="12" y="502"/>
                    <a:pt x="0" y="491"/>
                    <a:pt x="0" y="477"/>
                  </a:cubicBezTo>
                  <a:cubicBezTo>
                    <a:pt x="0" y="463"/>
                    <a:pt x="12" y="452"/>
                    <a:pt x="25" y="452"/>
                  </a:cubicBezTo>
                  <a:cubicBezTo>
                    <a:pt x="250" y="452"/>
                    <a:pt x="250" y="452"/>
                    <a:pt x="250" y="452"/>
                  </a:cubicBezTo>
                  <a:cubicBezTo>
                    <a:pt x="336" y="452"/>
                    <a:pt x="409" y="385"/>
                    <a:pt x="409" y="305"/>
                  </a:cubicBezTo>
                  <a:cubicBezTo>
                    <a:pt x="409" y="205"/>
                    <a:pt x="409" y="205"/>
                    <a:pt x="409" y="205"/>
                  </a:cubicBezTo>
                  <a:cubicBezTo>
                    <a:pt x="409" y="122"/>
                    <a:pt x="335" y="50"/>
                    <a:pt x="252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12" y="50"/>
                    <a:pt x="0" y="39"/>
                    <a:pt x="0" y="25"/>
                  </a:cubicBezTo>
                  <a:cubicBezTo>
                    <a:pt x="0" y="11"/>
                    <a:pt x="12" y="0"/>
                    <a:pt x="25" y="0"/>
                  </a:cubicBezTo>
                  <a:cubicBezTo>
                    <a:pt x="252" y="0"/>
                    <a:pt x="252" y="0"/>
                    <a:pt x="252" y="0"/>
                  </a:cubicBezTo>
                  <a:cubicBezTo>
                    <a:pt x="362" y="0"/>
                    <a:pt x="459" y="96"/>
                    <a:pt x="459" y="205"/>
                  </a:cubicBezTo>
                  <a:cubicBezTo>
                    <a:pt x="459" y="305"/>
                    <a:pt x="459" y="305"/>
                    <a:pt x="459" y="305"/>
                  </a:cubicBezTo>
                  <a:cubicBezTo>
                    <a:pt x="459" y="412"/>
                    <a:pt x="363" y="502"/>
                    <a:pt x="250" y="5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4B1811-8AF7-4490-A9C4-F71DD756C8D6}"/>
              </a:ext>
            </a:extLst>
          </p:cNvPr>
          <p:cNvGrpSpPr>
            <a:grpSpLocks noChangeAspect="1"/>
          </p:cNvGrpSpPr>
          <p:nvPr/>
        </p:nvGrpSpPr>
        <p:grpSpPr>
          <a:xfrm>
            <a:off x="4653621" y="4300510"/>
            <a:ext cx="419334" cy="252000"/>
            <a:chOff x="2805112" y="-242888"/>
            <a:chExt cx="3333751" cy="2003426"/>
          </a:xfrm>
          <a:solidFill>
            <a:srgbClr val="E33836"/>
          </a:solidFill>
        </p:grpSpPr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6BFEC87F-238C-4902-89E8-A117761E1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112" y="-242888"/>
              <a:ext cx="3333751" cy="2003426"/>
            </a:xfrm>
            <a:custGeom>
              <a:avLst/>
              <a:gdLst>
                <a:gd name="T0" fmla="*/ 22 w 886"/>
                <a:gd name="T1" fmla="*/ 531 h 531"/>
                <a:gd name="T2" fmla="*/ 9 w 886"/>
                <a:gd name="T3" fmla="*/ 526 h 531"/>
                <a:gd name="T4" fmla="*/ 7 w 886"/>
                <a:gd name="T5" fmla="*/ 499 h 531"/>
                <a:gd name="T6" fmla="*/ 321 w 886"/>
                <a:gd name="T7" fmla="*/ 146 h 531"/>
                <a:gd name="T8" fmla="*/ 348 w 886"/>
                <a:gd name="T9" fmla="*/ 144 h 531"/>
                <a:gd name="T10" fmla="*/ 568 w 886"/>
                <a:gd name="T11" fmla="*/ 328 h 531"/>
                <a:gd name="T12" fmla="*/ 850 w 886"/>
                <a:gd name="T13" fmla="*/ 9 h 531"/>
                <a:gd name="T14" fmla="*/ 877 w 886"/>
                <a:gd name="T15" fmla="*/ 7 h 531"/>
                <a:gd name="T16" fmla="*/ 879 w 886"/>
                <a:gd name="T17" fmla="*/ 35 h 531"/>
                <a:gd name="T18" fmla="*/ 585 w 886"/>
                <a:gd name="T19" fmla="*/ 368 h 531"/>
                <a:gd name="T20" fmla="*/ 558 w 886"/>
                <a:gd name="T21" fmla="*/ 370 h 531"/>
                <a:gd name="T22" fmla="*/ 337 w 886"/>
                <a:gd name="T23" fmla="*/ 186 h 531"/>
                <a:gd name="T24" fmla="*/ 36 w 886"/>
                <a:gd name="T25" fmla="*/ 525 h 531"/>
                <a:gd name="T26" fmla="*/ 22 w 886"/>
                <a:gd name="T27" fmla="*/ 531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6" h="531">
                  <a:moveTo>
                    <a:pt x="22" y="531"/>
                  </a:moveTo>
                  <a:cubicBezTo>
                    <a:pt x="17" y="531"/>
                    <a:pt x="12" y="530"/>
                    <a:pt x="9" y="526"/>
                  </a:cubicBezTo>
                  <a:cubicBezTo>
                    <a:pt x="0" y="519"/>
                    <a:pt x="0" y="507"/>
                    <a:pt x="7" y="499"/>
                  </a:cubicBezTo>
                  <a:cubicBezTo>
                    <a:pt x="321" y="146"/>
                    <a:pt x="321" y="146"/>
                    <a:pt x="321" y="146"/>
                  </a:cubicBezTo>
                  <a:cubicBezTo>
                    <a:pt x="328" y="138"/>
                    <a:pt x="340" y="137"/>
                    <a:pt x="348" y="144"/>
                  </a:cubicBezTo>
                  <a:cubicBezTo>
                    <a:pt x="568" y="328"/>
                    <a:pt x="568" y="328"/>
                    <a:pt x="568" y="328"/>
                  </a:cubicBezTo>
                  <a:cubicBezTo>
                    <a:pt x="850" y="9"/>
                    <a:pt x="850" y="9"/>
                    <a:pt x="850" y="9"/>
                  </a:cubicBezTo>
                  <a:cubicBezTo>
                    <a:pt x="857" y="0"/>
                    <a:pt x="869" y="0"/>
                    <a:pt x="877" y="7"/>
                  </a:cubicBezTo>
                  <a:cubicBezTo>
                    <a:pt x="885" y="14"/>
                    <a:pt x="886" y="26"/>
                    <a:pt x="879" y="35"/>
                  </a:cubicBezTo>
                  <a:cubicBezTo>
                    <a:pt x="585" y="368"/>
                    <a:pt x="585" y="368"/>
                    <a:pt x="585" y="368"/>
                  </a:cubicBezTo>
                  <a:cubicBezTo>
                    <a:pt x="578" y="376"/>
                    <a:pt x="566" y="377"/>
                    <a:pt x="558" y="370"/>
                  </a:cubicBezTo>
                  <a:cubicBezTo>
                    <a:pt x="337" y="186"/>
                    <a:pt x="337" y="186"/>
                    <a:pt x="337" y="186"/>
                  </a:cubicBezTo>
                  <a:cubicBezTo>
                    <a:pt x="36" y="525"/>
                    <a:pt x="36" y="525"/>
                    <a:pt x="36" y="525"/>
                  </a:cubicBezTo>
                  <a:cubicBezTo>
                    <a:pt x="32" y="529"/>
                    <a:pt x="27" y="531"/>
                    <a:pt x="22" y="5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59F51AA4-DF2F-4D85-9366-DAAD8E683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938" y="-234950"/>
              <a:ext cx="1171575" cy="1033463"/>
            </a:xfrm>
            <a:custGeom>
              <a:avLst/>
              <a:gdLst>
                <a:gd name="T0" fmla="*/ 291 w 311"/>
                <a:gd name="T1" fmla="*/ 274 h 274"/>
                <a:gd name="T2" fmla="*/ 272 w 311"/>
                <a:gd name="T3" fmla="*/ 254 h 274"/>
                <a:gd name="T4" fmla="*/ 272 w 311"/>
                <a:gd name="T5" fmla="*/ 39 h 274"/>
                <a:gd name="T6" fmla="*/ 19 w 311"/>
                <a:gd name="T7" fmla="*/ 39 h 274"/>
                <a:gd name="T8" fmla="*/ 0 w 311"/>
                <a:gd name="T9" fmla="*/ 20 h 274"/>
                <a:gd name="T10" fmla="*/ 19 w 311"/>
                <a:gd name="T11" fmla="*/ 0 h 274"/>
                <a:gd name="T12" fmla="*/ 291 w 311"/>
                <a:gd name="T13" fmla="*/ 0 h 274"/>
                <a:gd name="T14" fmla="*/ 311 w 311"/>
                <a:gd name="T15" fmla="*/ 20 h 274"/>
                <a:gd name="T16" fmla="*/ 311 w 311"/>
                <a:gd name="T17" fmla="*/ 254 h 274"/>
                <a:gd name="T18" fmla="*/ 291 w 311"/>
                <a:gd name="T19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1" h="274">
                  <a:moveTo>
                    <a:pt x="291" y="274"/>
                  </a:moveTo>
                  <a:cubicBezTo>
                    <a:pt x="281" y="274"/>
                    <a:pt x="272" y="265"/>
                    <a:pt x="272" y="254"/>
                  </a:cubicBezTo>
                  <a:cubicBezTo>
                    <a:pt x="272" y="39"/>
                    <a:pt x="272" y="39"/>
                    <a:pt x="272" y="39"/>
                  </a:cubicBezTo>
                  <a:cubicBezTo>
                    <a:pt x="19" y="39"/>
                    <a:pt x="19" y="39"/>
                    <a:pt x="19" y="39"/>
                  </a:cubicBezTo>
                  <a:cubicBezTo>
                    <a:pt x="9" y="39"/>
                    <a:pt x="0" y="30"/>
                    <a:pt x="0" y="20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302" y="0"/>
                    <a:pt x="311" y="9"/>
                    <a:pt x="311" y="20"/>
                  </a:cubicBezTo>
                  <a:cubicBezTo>
                    <a:pt x="311" y="254"/>
                    <a:pt x="311" y="254"/>
                    <a:pt x="311" y="254"/>
                  </a:cubicBezTo>
                  <a:cubicBezTo>
                    <a:pt x="311" y="265"/>
                    <a:pt x="302" y="274"/>
                    <a:pt x="291" y="2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F5CC5DA-3B28-4B80-851A-6A3D572B58D4}"/>
              </a:ext>
            </a:extLst>
          </p:cNvPr>
          <p:cNvGrpSpPr>
            <a:grpSpLocks noChangeAspect="1"/>
          </p:cNvGrpSpPr>
          <p:nvPr/>
        </p:nvGrpSpPr>
        <p:grpSpPr>
          <a:xfrm>
            <a:off x="6327376" y="4210672"/>
            <a:ext cx="359663" cy="360000"/>
            <a:chOff x="325438" y="-827088"/>
            <a:chExt cx="8478838" cy="8486776"/>
          </a:xfrm>
          <a:solidFill>
            <a:sysClr val="windowText" lastClr="000000"/>
          </a:solidFill>
        </p:grpSpPr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41B0B118-2812-43CA-A1A1-B8082DF71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9913" y="2011362"/>
              <a:ext cx="368300" cy="3184525"/>
            </a:xfrm>
            <a:custGeom>
              <a:avLst/>
              <a:gdLst>
                <a:gd name="T0" fmla="*/ 49 w 98"/>
                <a:gd name="T1" fmla="*/ 848 h 848"/>
                <a:gd name="T2" fmla="*/ 0 w 98"/>
                <a:gd name="T3" fmla="*/ 799 h 848"/>
                <a:gd name="T4" fmla="*/ 0 w 98"/>
                <a:gd name="T5" fmla="*/ 49 h 848"/>
                <a:gd name="T6" fmla="*/ 49 w 98"/>
                <a:gd name="T7" fmla="*/ 0 h 848"/>
                <a:gd name="T8" fmla="*/ 98 w 98"/>
                <a:gd name="T9" fmla="*/ 49 h 848"/>
                <a:gd name="T10" fmla="*/ 98 w 98"/>
                <a:gd name="T11" fmla="*/ 799 h 848"/>
                <a:gd name="T12" fmla="*/ 49 w 98"/>
                <a:gd name="T13" fmla="*/ 848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848">
                  <a:moveTo>
                    <a:pt x="49" y="848"/>
                  </a:moveTo>
                  <a:cubicBezTo>
                    <a:pt x="22" y="848"/>
                    <a:pt x="0" y="826"/>
                    <a:pt x="0" y="79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76" y="0"/>
                    <a:pt x="98" y="22"/>
                    <a:pt x="98" y="49"/>
                  </a:cubicBezTo>
                  <a:cubicBezTo>
                    <a:pt x="98" y="799"/>
                    <a:pt x="98" y="799"/>
                    <a:pt x="98" y="799"/>
                  </a:cubicBezTo>
                  <a:cubicBezTo>
                    <a:pt x="98" y="826"/>
                    <a:pt x="76" y="848"/>
                    <a:pt x="49" y="8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Freeform 45">
              <a:extLst>
                <a:ext uri="{FF2B5EF4-FFF2-40B4-BE49-F238E27FC236}">
                  <a16:creationId xmlns:a16="http://schemas.microsoft.com/office/drawing/2014/main" id="{DAE68F70-F2C1-4F4C-822F-5205BCF6D3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438" y="-827088"/>
              <a:ext cx="8478838" cy="8486776"/>
            </a:xfrm>
            <a:custGeom>
              <a:avLst/>
              <a:gdLst>
                <a:gd name="T0" fmla="*/ 2209 w 2258"/>
                <a:gd name="T1" fmla="*/ 2260 h 2260"/>
                <a:gd name="T2" fmla="*/ 2207 w 2258"/>
                <a:gd name="T3" fmla="*/ 2260 h 2260"/>
                <a:gd name="T4" fmla="*/ 51 w 2258"/>
                <a:gd name="T5" fmla="*/ 2260 h 2260"/>
                <a:gd name="T6" fmla="*/ 9 w 2258"/>
                <a:gd name="T7" fmla="*/ 2237 h 2260"/>
                <a:gd name="T8" fmla="*/ 7 w 2258"/>
                <a:gd name="T9" fmla="*/ 2189 h 2260"/>
                <a:gd name="T10" fmla="*/ 1085 w 2258"/>
                <a:gd name="T11" fmla="*/ 33 h 2260"/>
                <a:gd name="T12" fmla="*/ 1173 w 2258"/>
                <a:gd name="T13" fmla="*/ 33 h 2260"/>
                <a:gd name="T14" fmla="*/ 2246 w 2258"/>
                <a:gd name="T15" fmla="*/ 2178 h 2260"/>
                <a:gd name="T16" fmla="*/ 2258 w 2258"/>
                <a:gd name="T17" fmla="*/ 2211 h 2260"/>
                <a:gd name="T18" fmla="*/ 2209 w 2258"/>
                <a:gd name="T19" fmla="*/ 2260 h 2260"/>
                <a:gd name="T20" fmla="*/ 130 w 2258"/>
                <a:gd name="T21" fmla="*/ 2162 h 2260"/>
                <a:gd name="T22" fmla="*/ 2128 w 2258"/>
                <a:gd name="T23" fmla="*/ 2162 h 2260"/>
                <a:gd name="T24" fmla="*/ 1129 w 2258"/>
                <a:gd name="T25" fmla="*/ 164 h 2260"/>
                <a:gd name="T26" fmla="*/ 130 w 2258"/>
                <a:gd name="T27" fmla="*/ 2162 h 2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58" h="2260">
                  <a:moveTo>
                    <a:pt x="2209" y="2260"/>
                  </a:moveTo>
                  <a:cubicBezTo>
                    <a:pt x="2209" y="2260"/>
                    <a:pt x="2208" y="2260"/>
                    <a:pt x="2207" y="2260"/>
                  </a:cubicBezTo>
                  <a:cubicBezTo>
                    <a:pt x="51" y="2260"/>
                    <a:pt x="51" y="2260"/>
                    <a:pt x="51" y="2260"/>
                  </a:cubicBezTo>
                  <a:cubicBezTo>
                    <a:pt x="34" y="2260"/>
                    <a:pt x="18" y="2251"/>
                    <a:pt x="9" y="2237"/>
                  </a:cubicBezTo>
                  <a:cubicBezTo>
                    <a:pt x="1" y="2222"/>
                    <a:pt x="0" y="2204"/>
                    <a:pt x="7" y="2189"/>
                  </a:cubicBezTo>
                  <a:cubicBezTo>
                    <a:pt x="1085" y="33"/>
                    <a:pt x="1085" y="33"/>
                    <a:pt x="1085" y="33"/>
                  </a:cubicBezTo>
                  <a:cubicBezTo>
                    <a:pt x="1102" y="0"/>
                    <a:pt x="1156" y="0"/>
                    <a:pt x="1173" y="33"/>
                  </a:cubicBezTo>
                  <a:cubicBezTo>
                    <a:pt x="2246" y="2178"/>
                    <a:pt x="2246" y="2178"/>
                    <a:pt x="2246" y="2178"/>
                  </a:cubicBezTo>
                  <a:cubicBezTo>
                    <a:pt x="2253" y="2187"/>
                    <a:pt x="2258" y="2198"/>
                    <a:pt x="2258" y="2211"/>
                  </a:cubicBezTo>
                  <a:cubicBezTo>
                    <a:pt x="2258" y="2238"/>
                    <a:pt x="2236" y="2260"/>
                    <a:pt x="2209" y="2260"/>
                  </a:cubicBezTo>
                  <a:close/>
                  <a:moveTo>
                    <a:pt x="130" y="2162"/>
                  </a:moveTo>
                  <a:cubicBezTo>
                    <a:pt x="2128" y="2162"/>
                    <a:pt x="2128" y="2162"/>
                    <a:pt x="2128" y="2162"/>
                  </a:cubicBezTo>
                  <a:cubicBezTo>
                    <a:pt x="1129" y="164"/>
                    <a:pt x="1129" y="164"/>
                    <a:pt x="1129" y="164"/>
                  </a:cubicBezTo>
                  <a:lnTo>
                    <a:pt x="130" y="2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val 46">
              <a:extLst>
                <a:ext uri="{FF2B5EF4-FFF2-40B4-BE49-F238E27FC236}">
                  <a16:creationId xmlns:a16="http://schemas.microsoft.com/office/drawing/2014/main" id="{A16CD2CC-B5BC-48D8-9753-AB2C5D4B9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19775"/>
              <a:ext cx="736600" cy="7366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E33836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05E5295-A79A-4CDC-9EAA-CA66B56296DC}"/>
              </a:ext>
            </a:extLst>
          </p:cNvPr>
          <p:cNvCxnSpPr/>
          <p:nvPr/>
        </p:nvCxnSpPr>
        <p:spPr>
          <a:xfrm flipH="1">
            <a:off x="1571392" y="1603076"/>
            <a:ext cx="276430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23A308-39F9-419D-878B-DC800CE631F1}"/>
              </a:ext>
            </a:extLst>
          </p:cNvPr>
          <p:cNvCxnSpPr/>
          <p:nvPr/>
        </p:nvCxnSpPr>
        <p:spPr>
          <a:xfrm flipH="1">
            <a:off x="1571392" y="3614756"/>
            <a:ext cx="2764303" cy="0"/>
          </a:xfrm>
          <a:prstGeom prst="line">
            <a:avLst/>
          </a:prstGeom>
          <a:noFill/>
          <a:ln w="6350" cap="flat" cmpd="sng" algn="ctr">
            <a:solidFill>
              <a:srgbClr val="E33836"/>
            </a:solidFill>
            <a:prstDash val="solid"/>
            <a:miter lim="800000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A01B362-42FB-471A-AD8B-D26F85D77F66}"/>
              </a:ext>
            </a:extLst>
          </p:cNvPr>
          <p:cNvCxnSpPr/>
          <p:nvPr/>
        </p:nvCxnSpPr>
        <p:spPr>
          <a:xfrm flipH="1">
            <a:off x="7087489" y="1603076"/>
            <a:ext cx="2764303" cy="0"/>
          </a:xfrm>
          <a:prstGeom prst="line">
            <a:avLst/>
          </a:prstGeom>
          <a:noFill/>
          <a:ln w="6350" cap="flat" cmpd="sng" algn="ctr">
            <a:solidFill>
              <a:srgbClr val="E33836"/>
            </a:solidFill>
            <a:prstDash val="solid"/>
            <a:miter lim="800000"/>
          </a:ln>
          <a:effectLst/>
        </p:spPr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CEB7ED7-2D7C-4B03-A4FC-00F9DB9B83BC}"/>
              </a:ext>
            </a:extLst>
          </p:cNvPr>
          <p:cNvCxnSpPr/>
          <p:nvPr/>
        </p:nvCxnSpPr>
        <p:spPr>
          <a:xfrm flipH="1">
            <a:off x="7087489" y="3614756"/>
            <a:ext cx="2764303" cy="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1F30B3A-78EC-4635-AC64-BBA0F95EDE75}"/>
              </a:ext>
            </a:extLst>
          </p:cNvPr>
          <p:cNvSpPr txBox="1"/>
          <p:nvPr/>
        </p:nvSpPr>
        <p:spPr>
          <a:xfrm flipH="1">
            <a:off x="7546518" y="3713681"/>
            <a:ext cx="4378781" cy="147732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Lower Rate Card from competitors like TCS, CTS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Larger scale of operation of competitors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Established Shared Services 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Proven Tools and Technologies of competitors in Big SAP shops, reduced effort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MS PGothic" pitchFamily="34" charset="-128"/>
              <a:cs typeface="Arial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MS PGothic" pitchFamily="34" charset="-128"/>
              <a:cs typeface="Arial" pitchFamily="34" charset="0"/>
            </a:endParaRP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73E2F2-E9E1-4E86-9DC0-1D77692B3FE6}"/>
              </a:ext>
            </a:extLst>
          </p:cNvPr>
          <p:cNvSpPr txBox="1"/>
          <p:nvPr/>
        </p:nvSpPr>
        <p:spPr>
          <a:xfrm flipH="1">
            <a:off x="228600" y="3701143"/>
            <a:ext cx="3667580" cy="147732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Showcase our strength around Process + IT Integration Knowledge, </a:t>
            </a:r>
          </a:p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Celonis + Native Frameworks ensuring process driven Improvement Approach</a:t>
            </a:r>
          </a:p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Establish a Factory Model Approach for the technical delivery at offshore (reduced cost)</a:t>
            </a:r>
          </a:p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Outcome based approach, drive Value Share Model   </a:t>
            </a:r>
          </a:p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Calibri" panose="020F0502020204030204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EEDCBC-4E25-4029-B2B0-2EECA7A13127}"/>
              </a:ext>
            </a:extLst>
          </p:cNvPr>
          <p:cNvSpPr txBox="1"/>
          <p:nvPr/>
        </p:nvSpPr>
        <p:spPr>
          <a:xfrm flipH="1">
            <a:off x="142420" y="1699736"/>
            <a:ext cx="3667580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Our Knowledge  of Motorparts SAP System</a:t>
            </a:r>
          </a:p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Flexibility of the team in managing enhancements and small projects without asking for CR </a:t>
            </a:r>
          </a:p>
          <a:p>
            <a:pPr marL="285750" indent="-285750" algn="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 panose="020F0502020204030204" pitchFamily="34" charset="0"/>
                <a:ea typeface="MS PGothic" pitchFamily="34" charset="-128"/>
                <a:cs typeface="Arial" pitchFamily="34" charset="0"/>
              </a:rPr>
              <a:t>Strong customer connect with IT stakeholders at ground level</a:t>
            </a:r>
          </a:p>
        </p:txBody>
      </p:sp>
    </p:spTree>
    <p:extLst>
      <p:ext uri="{BB962C8B-B14F-4D97-AF65-F5344CB8AC3E}">
        <p14:creationId xmlns:p14="http://schemas.microsoft.com/office/powerpoint/2010/main" val="100093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B56019-95AF-4282-A4AE-747350E39D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8600" y="228600"/>
            <a:ext cx="9750056" cy="533400"/>
          </a:xfrm>
        </p:spPr>
        <p:txBody>
          <a:bodyPr/>
          <a:lstStyle/>
          <a:p>
            <a:r>
              <a:rPr lang="en-US" dirty="0"/>
              <a:t>Heat Map of SAP Applications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FFF0BA8-8552-40BF-991C-8075A905F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780898"/>
              </p:ext>
            </p:extLst>
          </p:nvPr>
        </p:nvGraphicFramePr>
        <p:xfrm>
          <a:off x="1039146" y="1066800"/>
          <a:ext cx="9857454" cy="5029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68">
                  <a:extLst>
                    <a:ext uri="{9D8B030D-6E8A-4147-A177-3AD203B41FA5}">
                      <a16:colId xmlns:a16="http://schemas.microsoft.com/office/drawing/2014/main" val="3709528334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3440318614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2468494341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1999451879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1193636595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3642039072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1742466747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3161990454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2188256016"/>
                    </a:ext>
                  </a:extLst>
                </a:gridCol>
                <a:gridCol w="891154">
                  <a:extLst>
                    <a:ext uri="{9D8B030D-6E8A-4147-A177-3AD203B41FA5}">
                      <a16:colId xmlns:a16="http://schemas.microsoft.com/office/drawing/2014/main" val="909626067"/>
                    </a:ext>
                  </a:extLst>
                </a:gridCol>
              </a:tblGrid>
              <a:tr h="6647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Area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DF3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Application Modules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D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076128"/>
                  </a:ext>
                </a:extLst>
              </a:tr>
              <a:tr h="616602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PP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FICO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SD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FSCM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SRM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43181"/>
                  </a:ext>
                </a:extLst>
              </a:tr>
              <a:tr h="61660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HCM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HR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APO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EWM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SNC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GTS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CRM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VISTEX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VERTEX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370905"/>
                  </a:ext>
                </a:extLst>
              </a:tr>
              <a:tr h="61660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Technical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EDI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Topflow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Portal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FIORI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Webdynpro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ADS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Personas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ABAP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SOLMAN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607926"/>
                  </a:ext>
                </a:extLst>
              </a:tr>
              <a:tr h="61660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LOFTWARE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D43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MRP Monitor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B6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TEKLYNX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Codesoft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Autosys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960302"/>
                  </a:ext>
                </a:extLst>
              </a:tr>
              <a:tr h="6166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Testing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Worksoft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99226"/>
                  </a:ext>
                </a:extLst>
              </a:tr>
              <a:tr h="6166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Transfer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Attunity Gold Client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55438"/>
                  </a:ext>
                </a:extLst>
              </a:tr>
              <a:tr h="664795">
                <a:tc>
                  <a:txBody>
                    <a:bodyPr/>
                    <a:lstStyle/>
                    <a:p>
                      <a:pPr algn="ctr"/>
                      <a:r>
                        <a:rPr kumimoji="0" lang="en-IN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 / Data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BI / BW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B6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HANA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BODS</a:t>
                      </a: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99191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9A8B00-F76A-437F-8BB9-C805B590C820}"/>
              </a:ext>
            </a:extLst>
          </p:cNvPr>
          <p:cNvSpPr/>
          <p:nvPr/>
        </p:nvSpPr>
        <p:spPr>
          <a:xfrm>
            <a:off x="9012580" y="76200"/>
            <a:ext cx="457200" cy="15240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D62D7-223E-4F53-AFD2-73AA29D2E905}"/>
              </a:ext>
            </a:extLst>
          </p:cNvPr>
          <p:cNvSpPr txBox="1"/>
          <p:nvPr/>
        </p:nvSpPr>
        <p:spPr>
          <a:xfrm>
            <a:off x="9469780" y="26504"/>
            <a:ext cx="27222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Strong capability and available resources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95978CC-0594-43E1-B06A-F627C03E3FF7}"/>
              </a:ext>
            </a:extLst>
          </p:cNvPr>
          <p:cNvSpPr/>
          <p:nvPr/>
        </p:nvSpPr>
        <p:spPr>
          <a:xfrm>
            <a:off x="9015893" y="334738"/>
            <a:ext cx="457200" cy="1524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9E5A11-FD95-4020-9465-CF828293681A}"/>
              </a:ext>
            </a:extLst>
          </p:cNvPr>
          <p:cNvSpPr txBox="1"/>
          <p:nvPr/>
        </p:nvSpPr>
        <p:spPr>
          <a:xfrm>
            <a:off x="9473093" y="285042"/>
            <a:ext cx="21226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Limited resources, need to hire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0DDE8D-CFD2-496E-B478-1D4E803FECDD}"/>
              </a:ext>
            </a:extLst>
          </p:cNvPr>
          <p:cNvSpPr/>
          <p:nvPr/>
        </p:nvSpPr>
        <p:spPr>
          <a:xfrm>
            <a:off x="9012580" y="606347"/>
            <a:ext cx="457200" cy="1524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E804AA-5623-4EFF-9C4E-E40E0DDA121B}"/>
              </a:ext>
            </a:extLst>
          </p:cNvPr>
          <p:cNvSpPr txBox="1"/>
          <p:nvPr/>
        </p:nvSpPr>
        <p:spPr>
          <a:xfrm>
            <a:off x="9469780" y="556651"/>
            <a:ext cx="2020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 capability, explore market</a:t>
            </a:r>
          </a:p>
        </p:txBody>
      </p:sp>
    </p:spTree>
    <p:extLst>
      <p:ext uri="{BB962C8B-B14F-4D97-AF65-F5344CB8AC3E}">
        <p14:creationId xmlns:p14="http://schemas.microsoft.com/office/powerpoint/2010/main" val="30758570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Genpact Transformation">
      <a:dk1>
        <a:srgbClr val="073262"/>
      </a:dk1>
      <a:lt1>
        <a:sysClr val="window" lastClr="FFFFFF"/>
      </a:lt1>
      <a:dk2>
        <a:srgbClr val="EBECED"/>
      </a:dk2>
      <a:lt2>
        <a:srgbClr val="BFC0C1"/>
      </a:lt2>
      <a:accent1>
        <a:srgbClr val="FF555F"/>
      </a:accent1>
      <a:accent2>
        <a:srgbClr val="00AECF"/>
      </a:accent2>
      <a:accent3>
        <a:srgbClr val="073262"/>
      </a:accent3>
      <a:accent4>
        <a:srgbClr val="EA3946"/>
      </a:accent4>
      <a:accent5>
        <a:srgbClr val="60C7D7"/>
      </a:accent5>
      <a:accent6>
        <a:srgbClr val="073262"/>
      </a:accent6>
      <a:hlink>
        <a:srgbClr val="60C7D7"/>
      </a:hlink>
      <a:folHlink>
        <a:srgbClr val="1F497D"/>
      </a:folHlink>
    </a:clrScheme>
    <a:fontScheme name="G PPT 2017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9_Office Theme">
  <a:themeElements>
    <a:clrScheme name="GNPT2">
      <a:dk1>
        <a:sysClr val="windowText" lastClr="000000"/>
      </a:dk1>
      <a:lt1>
        <a:sysClr val="window" lastClr="FFFFFF"/>
      </a:lt1>
      <a:dk2>
        <a:srgbClr val="F5E003"/>
      </a:dk2>
      <a:lt2>
        <a:srgbClr val="1AA2DC"/>
      </a:lt2>
      <a:accent1>
        <a:srgbClr val="00608A"/>
      </a:accent1>
      <a:accent2>
        <a:srgbClr val="905500"/>
      </a:accent2>
      <a:accent3>
        <a:srgbClr val="4C7520"/>
      </a:accent3>
      <a:accent4>
        <a:srgbClr val="F7941E"/>
      </a:accent4>
      <a:accent5>
        <a:srgbClr val="8DC63F"/>
      </a:accent5>
      <a:accent6>
        <a:srgbClr val="959697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13DFBDB3D4246A06AA7A00F1749B5" ma:contentTypeVersion="11" ma:contentTypeDescription="Create a new document." ma:contentTypeScope="" ma:versionID="7527151c447c8326fbd038a2222a0c8f">
  <xsd:schema xmlns:xsd="http://www.w3.org/2001/XMLSchema" xmlns:xs="http://www.w3.org/2001/XMLSchema" xmlns:p="http://schemas.microsoft.com/office/2006/metadata/properties" xmlns:ns3="9427cb11-436f-4cf0-93b3-c168d7791a22" xmlns:ns4="cbd5dea3-0761-4bb9-8952-42597588310b" targetNamespace="http://schemas.microsoft.com/office/2006/metadata/properties" ma:root="true" ma:fieldsID="1d40ca830c6a28ec03682f2531685c85" ns3:_="" ns4:_="">
    <xsd:import namespace="9427cb11-436f-4cf0-93b3-c168d7791a22"/>
    <xsd:import namespace="cbd5dea3-0761-4bb9-8952-42597588310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7cb11-436f-4cf0-93b3-c168d7791a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d5dea3-0761-4bb9-8952-42597588310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FA2156-28A9-401B-AF18-4586E042D708}">
  <ds:schemaRefs>
    <ds:schemaRef ds:uri="http://purl.org/dc/dcmitype/"/>
    <ds:schemaRef ds:uri="http://purl.org/dc/terms/"/>
    <ds:schemaRef ds:uri="http://www.w3.org/XML/1998/namespace"/>
    <ds:schemaRef ds:uri="http://purl.org/dc/elements/1.1/"/>
    <ds:schemaRef ds:uri="cbd5dea3-0761-4bb9-8952-4259758831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427cb11-436f-4cf0-93b3-c168d7791a2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F9F5582-2E7C-484E-A056-ED8FF10BDF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01A00A-F536-47AA-934E-74E5E57F69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7cb11-436f-4cf0-93b3-c168d7791a22"/>
    <ds:schemaRef ds:uri="cbd5dea3-0761-4bb9-8952-4259758831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79993</TotalTime>
  <Words>651</Words>
  <Application>Microsoft Office PowerPoint</Application>
  <PresentationFormat>Widescreen</PresentationFormat>
  <Paragraphs>267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Wingdings</vt:lpstr>
      <vt:lpstr>Blank</vt:lpstr>
      <vt:lpstr>19_Office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of</dc:title>
  <dc:creator>Meda, Vamshidhar</dc:creator>
  <cp:lastModifiedBy>Rajib Auddy</cp:lastModifiedBy>
  <cp:revision>4060</cp:revision>
  <cp:lastPrinted>2018-02-13T20:15:52Z</cp:lastPrinted>
  <dcterms:created xsi:type="dcterms:W3CDTF">2017-09-11T16:52:07Z</dcterms:created>
  <dcterms:modified xsi:type="dcterms:W3CDTF">2020-02-19T03:28:19Z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2017-09-11T00:00:00Z</vt:filetime>
  </property>
  <property fmtid="{D5CDD505-2E9C-101B-9397-08002B2CF9AE}" pid="3" name="Creator">
    <vt:lpwstr>Adobe InDesign CC 2017 (Windows)</vt:lpwstr>
  </property>
  <property fmtid="{D5CDD505-2E9C-101B-9397-08002B2CF9AE}" pid="4" name="LastSaved">
    <vt:filetime>2017-09-11T00:00:00Z</vt:filetime>
  </property>
  <property fmtid="{D5CDD505-2E9C-101B-9397-08002B2CF9AE}" pid="5" name="ContentTypeId">
    <vt:lpwstr>0x0101007BA13DFBDB3D4246A06AA7A00F1749B5</vt:lpwstr>
  </property>
  <property fmtid="{D5CDD505-2E9C-101B-9397-08002B2CF9AE}" pid="6" name="TaxKeyword">
    <vt:lpwstr/>
  </property>
  <property fmtid="{D5CDD505-2E9C-101B-9397-08002B2CF9AE}" pid="7" name="Tag">
    <vt:lpwstr/>
  </property>
</Properties>
</file>